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49766e40244689" /><Relationship Type="http://schemas.openxmlformats.org/officeDocument/2006/relationships/extended-properties" Target="/docProps/app.xml" Id="R3ae2ced059884c53" /><Relationship Type="http://schemas.openxmlformats.org/officeDocument/2006/relationships/officeDocument" Target="/ppt/presentation.xml" Id="Rfb248d45ef524a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f4399c6324b8e"/>
  </p:sldMasterIdLst>
  <p:notesMasterIdLst>
    <p:notesMasterId xmlns:r="http://schemas.openxmlformats.org/officeDocument/2006/relationships" r:id="Rf201e95618694bcb"/>
  </p:notesMasterIdLst>
  <p:sldIdLst>
    <p:sldId xmlns:r="http://schemas.openxmlformats.org/officeDocument/2006/relationships" id="256" r:id="R0ebc77abe0424f0f"/>
    <p:sldId xmlns:r="http://schemas.openxmlformats.org/officeDocument/2006/relationships" id="257" r:id="R89d0c351edc043f6"/>
    <p:sldId xmlns:r="http://schemas.openxmlformats.org/officeDocument/2006/relationships" id="258" r:id="R1edafa91dc4745db"/>
    <p:sldId xmlns:r="http://schemas.openxmlformats.org/officeDocument/2006/relationships" id="259" r:id="R176b6d39c2434c6e"/>
    <p:sldId xmlns:r="http://schemas.openxmlformats.org/officeDocument/2006/relationships" id="260" r:id="Rf14b107393fd4e02"/>
    <p:sldId xmlns:r="http://schemas.openxmlformats.org/officeDocument/2006/relationships" id="261" r:id="R8b412bb3ad334989"/>
    <p:sldId xmlns:r="http://schemas.openxmlformats.org/officeDocument/2006/relationships" id="262" r:id="R2ffe9d2b11504345"/>
    <p:sldId xmlns:r="http://schemas.openxmlformats.org/officeDocument/2006/relationships" id="263" r:id="Rbb9aed53c9da4bd6"/>
    <p:sldId xmlns:r="http://schemas.openxmlformats.org/officeDocument/2006/relationships" id="264" r:id="R07a24f12507a4b56"/>
    <p:sldId xmlns:r="http://schemas.openxmlformats.org/officeDocument/2006/relationships" id="265" r:id="Rafa545a10ad44bda"/>
    <p:sldId xmlns:r="http://schemas.openxmlformats.org/officeDocument/2006/relationships" id="266" r:id="Rb4bc740bb37b4b27"/>
    <p:sldId xmlns:r="http://schemas.openxmlformats.org/officeDocument/2006/relationships" id="267" r:id="Re5d204dee4604fa5"/>
    <p:sldId xmlns:r="http://schemas.openxmlformats.org/officeDocument/2006/relationships" id="268" r:id="Rb508b894d72844cf"/>
    <p:sldId xmlns:r="http://schemas.openxmlformats.org/officeDocument/2006/relationships" id="269" r:id="Rf8e3846e822947ae"/>
    <p:sldId xmlns:r="http://schemas.openxmlformats.org/officeDocument/2006/relationships" id="270" r:id="R9fd94042514e46a8"/>
    <p:sldId xmlns:r="http://schemas.openxmlformats.org/officeDocument/2006/relationships" id="271" r:id="Rbf2eab5fd5724200"/>
    <p:sldId xmlns:r="http://schemas.openxmlformats.org/officeDocument/2006/relationships" id="272" r:id="Rea63e6bcd2ec42c1"/>
    <p:sldId xmlns:r="http://schemas.openxmlformats.org/officeDocument/2006/relationships" id="273" r:id="R9fcf4a279e3c4e99"/>
    <p:sldId xmlns:r="http://schemas.openxmlformats.org/officeDocument/2006/relationships" id="274" r:id="R849652a7bd8a4c83"/>
    <p:sldId xmlns:r="http://schemas.openxmlformats.org/officeDocument/2006/relationships" id="275" r:id="R7fa93f52ad8a4a0c"/>
    <p:sldId xmlns:r="http://schemas.openxmlformats.org/officeDocument/2006/relationships" id="276" r:id="Re89bd3e036e747a7"/>
    <p:sldId xmlns:r="http://schemas.openxmlformats.org/officeDocument/2006/relationships" id="277" r:id="Rdd024ca07577485a"/>
    <p:sldId xmlns:r="http://schemas.openxmlformats.org/officeDocument/2006/relationships" id="278" r:id="R34edcba8ed244f06"/>
    <p:sldId xmlns:r="http://schemas.openxmlformats.org/officeDocument/2006/relationships" id="279" r:id="R73fce1502b91492d"/>
    <p:sldId xmlns:r="http://schemas.openxmlformats.org/officeDocument/2006/relationships" id="280" r:id="Rf195fe14c53949a4"/>
    <p:sldId xmlns:r="http://schemas.openxmlformats.org/officeDocument/2006/relationships" id="281" r:id="R0d77e4ddab584922"/>
    <p:sldId xmlns:r="http://schemas.openxmlformats.org/officeDocument/2006/relationships" id="282" r:id="R2204e567a8914bb6"/>
    <p:sldId xmlns:r="http://schemas.openxmlformats.org/officeDocument/2006/relationships" id="283" r:id="R2cfb14dd7a644290"/>
    <p:sldId xmlns:r="http://schemas.openxmlformats.org/officeDocument/2006/relationships" id="284" r:id="R7548e25bbc964e73"/>
    <p:sldId xmlns:r="http://schemas.openxmlformats.org/officeDocument/2006/relationships" id="285" r:id="Rd95bdea1d1694b08"/>
    <p:sldId xmlns:r="http://schemas.openxmlformats.org/officeDocument/2006/relationships" id="286" r:id="Rccb90edf5df24002"/>
    <p:sldId xmlns:r="http://schemas.openxmlformats.org/officeDocument/2006/relationships" id="287" r:id="R0b35baa8c33e46e1"/>
    <p:sldId xmlns:r="http://schemas.openxmlformats.org/officeDocument/2006/relationships" id="288" r:id="Raf84b2e1e66d4426"/>
    <p:sldId xmlns:r="http://schemas.openxmlformats.org/officeDocument/2006/relationships" id="289" r:id="Rb21ac15da53a4a07"/>
    <p:sldId xmlns:r="http://schemas.openxmlformats.org/officeDocument/2006/relationships" id="290" r:id="R5389b729fa1940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5fb44dcf514eeb" /><Relationship Type="http://schemas.openxmlformats.org/officeDocument/2006/relationships/slideMaster" Target="/ppt/slideMasters/slideMaster1.xml" Id="R37ef4399c6324b8e" /><Relationship Type="http://schemas.openxmlformats.org/officeDocument/2006/relationships/notesMaster" Target="/ppt/notesMasters/notesMaster1.xml" Id="Rf201e95618694bcb" /><Relationship Type="http://schemas.openxmlformats.org/officeDocument/2006/relationships/presProps" Target="/ppt/presProps.xml" Id="Rd1183cf1a58d43b5" /><Relationship Type="http://schemas.openxmlformats.org/officeDocument/2006/relationships/tableStyles" Target="/ppt/tableStyles.xml" Id="R03cadddb93834117" /><Relationship Type="http://schemas.openxmlformats.org/officeDocument/2006/relationships/slide" Target="/ppt/slides/slide1.xml" Id="R0ebc77abe0424f0f" /><Relationship Type="http://schemas.openxmlformats.org/officeDocument/2006/relationships/slide" Target="/ppt/slides/slide2.xml" Id="R89d0c351edc043f6" /><Relationship Type="http://schemas.openxmlformats.org/officeDocument/2006/relationships/slide" Target="/ppt/slides/slide3.xml" Id="R1edafa91dc4745db" /><Relationship Type="http://schemas.openxmlformats.org/officeDocument/2006/relationships/slide" Target="/ppt/slides/slide4.xml" Id="R176b6d39c2434c6e" /><Relationship Type="http://schemas.openxmlformats.org/officeDocument/2006/relationships/slide" Target="/ppt/slides/slide5.xml" Id="Rf14b107393fd4e02" /><Relationship Type="http://schemas.openxmlformats.org/officeDocument/2006/relationships/slide" Target="/ppt/slides/slide6.xml" Id="R8b412bb3ad334989" /><Relationship Type="http://schemas.openxmlformats.org/officeDocument/2006/relationships/slide" Target="/ppt/slides/slide7.xml" Id="R2ffe9d2b11504345" /><Relationship Type="http://schemas.openxmlformats.org/officeDocument/2006/relationships/slide" Target="/ppt/slides/slide8.xml" Id="Rbb9aed53c9da4bd6" /><Relationship Type="http://schemas.openxmlformats.org/officeDocument/2006/relationships/slide" Target="/ppt/slides/slide9.xml" Id="R07a24f12507a4b56" /><Relationship Type="http://schemas.openxmlformats.org/officeDocument/2006/relationships/slide" Target="/ppt/slides/slide10.xml" Id="Rafa545a10ad44bda" /><Relationship Type="http://schemas.openxmlformats.org/officeDocument/2006/relationships/slide" Target="/ppt/slides/slide11.xml" Id="Rb4bc740bb37b4b27" /><Relationship Type="http://schemas.openxmlformats.org/officeDocument/2006/relationships/slide" Target="/ppt/slides/slide12.xml" Id="Re5d204dee4604fa5" /><Relationship Type="http://schemas.openxmlformats.org/officeDocument/2006/relationships/slide" Target="/ppt/slides/slide13.xml" Id="Rb508b894d72844cf" /><Relationship Type="http://schemas.openxmlformats.org/officeDocument/2006/relationships/slide" Target="/ppt/slides/slide14.xml" Id="Rf8e3846e822947ae" /><Relationship Type="http://schemas.openxmlformats.org/officeDocument/2006/relationships/slide" Target="/ppt/slides/slide15.xml" Id="R9fd94042514e46a8" /><Relationship Type="http://schemas.openxmlformats.org/officeDocument/2006/relationships/slide" Target="/ppt/slides/slide16.xml" Id="Rbf2eab5fd5724200" /><Relationship Type="http://schemas.openxmlformats.org/officeDocument/2006/relationships/slide" Target="/ppt/slides/slide17.xml" Id="Rea63e6bcd2ec42c1" /><Relationship Type="http://schemas.openxmlformats.org/officeDocument/2006/relationships/slide" Target="/ppt/slides/slide18.xml" Id="R9fcf4a279e3c4e99" /><Relationship Type="http://schemas.openxmlformats.org/officeDocument/2006/relationships/slide" Target="/ppt/slides/slide19.xml" Id="R849652a7bd8a4c83" /><Relationship Type="http://schemas.openxmlformats.org/officeDocument/2006/relationships/slide" Target="/ppt/slides/slide20.xml" Id="R7fa93f52ad8a4a0c" /><Relationship Type="http://schemas.openxmlformats.org/officeDocument/2006/relationships/slide" Target="/ppt/slides/slide21.xml" Id="Re89bd3e036e747a7" /><Relationship Type="http://schemas.openxmlformats.org/officeDocument/2006/relationships/slide" Target="/ppt/slides/slide22.xml" Id="Rdd024ca07577485a" /><Relationship Type="http://schemas.openxmlformats.org/officeDocument/2006/relationships/slide" Target="/ppt/slides/slide23.xml" Id="R34edcba8ed244f06" /><Relationship Type="http://schemas.openxmlformats.org/officeDocument/2006/relationships/slide" Target="/ppt/slides/slide24.xml" Id="R73fce1502b91492d" /><Relationship Type="http://schemas.openxmlformats.org/officeDocument/2006/relationships/slide" Target="/ppt/slides/slide25.xml" Id="Rf195fe14c53949a4" /><Relationship Type="http://schemas.openxmlformats.org/officeDocument/2006/relationships/slide" Target="/ppt/slides/slide26.xml" Id="R0d77e4ddab584922" /><Relationship Type="http://schemas.openxmlformats.org/officeDocument/2006/relationships/slide" Target="/ppt/slides/slide27.xml" Id="R2204e567a8914bb6" /><Relationship Type="http://schemas.openxmlformats.org/officeDocument/2006/relationships/slide" Target="/ppt/slides/slide28.xml" Id="R2cfb14dd7a644290" /><Relationship Type="http://schemas.openxmlformats.org/officeDocument/2006/relationships/slide" Target="/ppt/slides/slide29.xml" Id="R7548e25bbc964e73" /><Relationship Type="http://schemas.openxmlformats.org/officeDocument/2006/relationships/slide" Target="/ppt/slides/slide30.xml" Id="Rd95bdea1d1694b08" /><Relationship Type="http://schemas.openxmlformats.org/officeDocument/2006/relationships/slide" Target="/ppt/slides/slide31.xml" Id="Rccb90edf5df24002" /><Relationship Type="http://schemas.openxmlformats.org/officeDocument/2006/relationships/slide" Target="/ppt/slides/slide32.xml" Id="R0b35baa8c33e46e1" /><Relationship Type="http://schemas.openxmlformats.org/officeDocument/2006/relationships/slide" Target="/ppt/slides/slide33.xml" Id="Raf84b2e1e66d4426" /><Relationship Type="http://schemas.openxmlformats.org/officeDocument/2006/relationships/slide" Target="/ppt/slides/slide34.xml" Id="Rb21ac15da53a4a07" /><Relationship Type="http://schemas.openxmlformats.org/officeDocument/2006/relationships/slide" Target="/ppt/slides/slide35.xml" Id="R5389b729fa19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0c99559e546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1e9fb17f0d465c" /><Relationship Type="http://schemas.openxmlformats.org/officeDocument/2006/relationships/notesMaster" Target="/ppt/notesMasters/notesMaster1.xml" Id="Ra2e6cc923b1540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8443ddb794cc2" /><Relationship Type="http://schemas.openxmlformats.org/officeDocument/2006/relationships/notesMaster" Target="/ppt/notesMasters/notesMaster1.xml" Id="Rf70c048f28f149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889a3310b4c02" /><Relationship Type="http://schemas.openxmlformats.org/officeDocument/2006/relationships/notesMaster" Target="/ppt/notesMasters/notesMaster1.xml" Id="Rfd42e03fd1ec4b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0ba8ba56e4117" /><Relationship Type="http://schemas.openxmlformats.org/officeDocument/2006/relationships/notesMaster" Target="/ppt/notesMasters/notesMaster1.xml" Id="R7746c7158007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937e8efb84ee6" /><Relationship Type="http://schemas.openxmlformats.org/officeDocument/2006/relationships/notesMaster" Target="/ppt/notesMasters/notesMaster1.xml" Id="Re76e9536831240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aab5deef94c53" /><Relationship Type="http://schemas.openxmlformats.org/officeDocument/2006/relationships/notesMaster" Target="/ppt/notesMasters/notesMaster1.xml" Id="Rc4e91f5cb6ae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1e791e9d38474a" /><Relationship Type="http://schemas.openxmlformats.org/officeDocument/2006/relationships/notesMaster" Target="/ppt/notesMasters/notesMaster1.xml" Id="R4e4e11b3c1fd4f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0dff6875a3490d" /><Relationship Type="http://schemas.openxmlformats.org/officeDocument/2006/relationships/notesMaster" Target="/ppt/notesMasters/notesMaster1.xml" Id="Radfca45b0d5f48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ccdf63ab374a60" /><Relationship Type="http://schemas.openxmlformats.org/officeDocument/2006/relationships/notesMaster" Target="/ppt/notesMasters/notesMaster1.xml" Id="R84af36ee7e9f42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10a08e81c64194" /><Relationship Type="http://schemas.openxmlformats.org/officeDocument/2006/relationships/notesMaster" Target="/ppt/notesMasters/notesMaster1.xml" Id="R389376e437994a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7444601e4248cd" /><Relationship Type="http://schemas.openxmlformats.org/officeDocument/2006/relationships/notesMaster" Target="/ppt/notesMasters/notesMaster1.xml" Id="Rdb9c9137fb2c41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153ad5beaa4692" /><Relationship Type="http://schemas.openxmlformats.org/officeDocument/2006/relationships/notesMaster" Target="/ppt/notesMasters/notesMaster1.xml" Id="R4a45e0b869d745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5e7c9a47f64693" /><Relationship Type="http://schemas.openxmlformats.org/officeDocument/2006/relationships/notesMaster" Target="/ppt/notesMasters/notesMaster1.xml" Id="R9d23a1d4d5a34d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9de42d1d324821" /><Relationship Type="http://schemas.openxmlformats.org/officeDocument/2006/relationships/notesMaster" Target="/ppt/notesMasters/notesMaster1.xml" Id="R00010de0bf2340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219dc3f55b41ad" /><Relationship Type="http://schemas.openxmlformats.org/officeDocument/2006/relationships/notesMaster" Target="/ppt/notesMasters/notesMaster1.xml" Id="R7b3a1010e37d41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4710f89f9a44f1" /><Relationship Type="http://schemas.openxmlformats.org/officeDocument/2006/relationships/notesMaster" Target="/ppt/notesMasters/notesMaster1.xml" Id="Rc05d4309999545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afeb18040c4a00" /><Relationship Type="http://schemas.openxmlformats.org/officeDocument/2006/relationships/notesMaster" Target="/ppt/notesMasters/notesMaster1.xml" Id="Ra61dc9d9957c4f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c599791087459a" /><Relationship Type="http://schemas.openxmlformats.org/officeDocument/2006/relationships/notesMaster" Target="/ppt/notesMasters/notesMaster1.xml" Id="R7ce150a1274c45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993441155d4467" /><Relationship Type="http://schemas.openxmlformats.org/officeDocument/2006/relationships/notesMaster" Target="/ppt/notesMasters/notesMaster1.xml" Id="R15883b8ed88a40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6010e911a3491c" /><Relationship Type="http://schemas.openxmlformats.org/officeDocument/2006/relationships/notesMaster" Target="/ppt/notesMasters/notesMaster1.xml" Id="R3ac87839db4342a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3a0ef31f9e4b34" /><Relationship Type="http://schemas.openxmlformats.org/officeDocument/2006/relationships/notesMaster" Target="/ppt/notesMasters/notesMaster1.xml" Id="R3d88d855367f4b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d4132fc8fd48e3" /><Relationship Type="http://schemas.openxmlformats.org/officeDocument/2006/relationships/notesMaster" Target="/ppt/notesMasters/notesMaster1.xml" Id="Rdf6c79b2af6046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006ba29275498b" /><Relationship Type="http://schemas.openxmlformats.org/officeDocument/2006/relationships/notesMaster" Target="/ppt/notesMasters/notesMaster1.xml" Id="Rcdf66cd06dbf42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e60328deb84097" /><Relationship Type="http://schemas.openxmlformats.org/officeDocument/2006/relationships/notesMaster" Target="/ppt/notesMasters/notesMaster1.xml" Id="Rbf5ba49b27fa42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253640bac064d23" /><Relationship Type="http://schemas.openxmlformats.org/officeDocument/2006/relationships/notesMaster" Target="/ppt/notesMasters/notesMaster1.xml" Id="R8bc35c7950644c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a0efa3a91b42ab" /><Relationship Type="http://schemas.openxmlformats.org/officeDocument/2006/relationships/notesMaster" Target="/ppt/notesMasters/notesMaster1.xml" Id="Rd714182d7e1a4c3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26a4e01765460c" /><Relationship Type="http://schemas.openxmlformats.org/officeDocument/2006/relationships/notesMaster" Target="/ppt/notesMasters/notesMaster1.xml" Id="Rf600d30f9bd74c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37793a5c8864592" /><Relationship Type="http://schemas.openxmlformats.org/officeDocument/2006/relationships/notesMaster" Target="/ppt/notesMasters/notesMaster1.xml" Id="R54c9b3d5fd814fd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9add1a1ed04c2e" /><Relationship Type="http://schemas.openxmlformats.org/officeDocument/2006/relationships/notesMaster" Target="/ppt/notesMasters/notesMaster1.xml" Id="R834d80c3806a418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5df6b5704d4668" /><Relationship Type="http://schemas.openxmlformats.org/officeDocument/2006/relationships/notesMaster" Target="/ppt/notesMasters/notesMaster1.xml" Id="Re67da1830586446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524bb9acff4921" /><Relationship Type="http://schemas.openxmlformats.org/officeDocument/2006/relationships/notesMaster" Target="/ppt/notesMasters/notesMaster1.xml" Id="R9297bc6c49704a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73ad0fcdb4d47f2" /><Relationship Type="http://schemas.openxmlformats.org/officeDocument/2006/relationships/notesMaster" Target="/ppt/notesMasters/notesMaster1.xml" Id="Reabe94ac257b456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59037b0a95407a" /><Relationship Type="http://schemas.openxmlformats.org/officeDocument/2006/relationships/notesMaster" Target="/ppt/notesMasters/notesMaster1.xml" Id="R76b8b152f38d4d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295b48183674f41" /><Relationship Type="http://schemas.openxmlformats.org/officeDocument/2006/relationships/notesMaster" Target="/ppt/notesMasters/notesMaster1.xml" Id="R323ef7e9fd444e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aa9eb6220234f09" /><Relationship Type="http://schemas.openxmlformats.org/officeDocument/2006/relationships/notesMaster" Target="/ppt/notesMasters/notesMaster1.xml" Id="R497b7cae352f40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aula como uma continuação do grafo de cena do capítulo 4. Mostre a grade e pergunte como uma imagem plana pode aparecer nas faces do cubo. Os alunos já dominam cenas, mas vão estudar a aparência por imagem.</a:t>
            </a:r>
          </a:p>
          <a:p xmlns:a="http://schemas.openxmlformats.org/drawingml/2006/main">
            <a:r>
              <a:t>Tempo previsto: 1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Informe que a instalação deve estar concluída. São 70 minutos de explicação e demonstração e 20 minutos de atividade. O foco é entender as relações e reutilizar o framework conhecido.</a:t>
            </a:r>
          </a:p>
          <a:p xmlns:a="http://schemas.openxmlformats.org/drawingml/2006/main">
            <a:r>
              <a:t>Tempo previsto: 1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os cubos. A quantidade e a posição dos vértices são iguais. Somente os dados utilizados para calcular a cor mudam. Neste material a textura não altera a geometria.</a:t>
            </a:r>
          </a:p>
          <a:p xmlns:a="http://schemas.openxmlformats.org/drawingml/2006/main">
            <a:r>
              <a:t>Tempo previsto: 2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Figura 5.1 para mostrar que uma caixa simples pode parecer mais detalhada. A textura representa a aparência da madeira, incluindo traços e parafusos. Não há novos relevos na geometria deste exemplo. Figura 5.1, p. 193, reproduzida do livro.</a:t>
            </a:r>
          </a:p>
          <a:p xmlns:a="http://schemas.openxmlformats.org/drawingml/2006/main">
            <a:r>
              <a:t>Tempo previsto: 2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Retome a separação Geometry e Material do capítulo 4. A geometria também precisa disponibilizar vertexUV. A aparência depende do material. baseColor pode tingir a textura, mas [1,1,1] preserva suas cores.</a:t>
            </a:r>
          </a:p>
          <a:p xmlns:a="http://schemas.openxmlformats.org/drawingml/2006/main">
            <a:r>
              <a:t>Tempo previsto: 2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Imagine colar uma folha impressa em cada face. Definir qual canto da folha encontra cada canto da caixa corresponde ao mapeamento UV. A analogia ajuda a localizar cada responsabilidade, sem sugerir que a GPU realmente cola uma imagem física.</a:t>
            </a:r>
          </a:p>
          <a:p xmlns:a="http://schemas.openxmlformats.org/drawingml/2006/main">
            <a:r>
              <a:t>Tempo previsto: 2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figura para comparar ampliação por vizinho mais próximo e filtro linear. Ao ampliar, vários pixels da tela podem consultar um mesmo texel ou uma mistura de texels. Figura 5.2, p. 196, reproduzida do livro.</a:t>
            </a:r>
          </a:p>
          <a:p xmlns:a="http://schemas.openxmlformats.org/drawingml/2006/main">
            <a:r>
              <a:t>Tempo previsto: 2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B. A aplicação da imagem altera o cálculo da cor. Os vértices e a câmera continuam como definidos na cena. Peça a um aluno que justifique por que as marcas da madeira parecem detalhadas mesmo sem novos triângulos.</a:t>
            </a:r>
          </a:p>
          <a:p xmlns:a="http://schemas.openxmlformats.org/drawingml/2006/main">
            <a:r>
              <a:t>Tempo previsto: 1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imagem não entra diretamente como um atributo dos vértices. Seus dados ficam em uma textura. As coordenadas UV entram como atributo. O sampler permite ao shader consultar a textura por uma unidade de textura.</a:t>
            </a:r>
          </a:p>
          <a:p xmlns:a="http://schemas.openxmlformats.org/drawingml/2006/main">
            <a:r>
              <a:t>Tempo previsto: 2 min. Fonte conceitual: STEMKOSKI; PASCALE (2022), 5.1, p. 194–201.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arquivo core/texture.py. Explique que criar Texture exige um contexto OpenGL ativo porque o construtor solicita uma referência à GPU. Base abre a janela antes de initialize(). Não confundir o identificador textureRef com o número da unidade.</a:t>
            </a:r>
          </a:p>
          <a:p xmlns:a="http://schemas.openxmlformats.org/drawingml/2006/main">
            <a:r>
              <a:t>Tempo previsto: 2 min. Fonte conceitual: STEMKOSKI; PASCALE (2022), 5.1, p. 194–201.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exemplo usa Path(__file__) para encontrar a imagem mesmo quando o terminal começa em outra pasta. PNG suporta alpha. Nossa grade é opaca. A instalação necessita internet uma vez, mas os arquivos da aula são locais.</a:t>
            </a:r>
          </a:p>
          <a:p xmlns:a="http://schemas.openxmlformats.org/drawingml/2006/main">
            <a:r>
              <a:t>Tempo previsto: 2 min. Fonte conceitual: STEMKOSKI; PASCALE (2022), 5.1, p. 194–201.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argumento True inverte verticalmente a ordem das linhas. Pygame trata o topo da imagem como origem, enquanto adotamos UV (0,0) no canto inferior esquerdo. O glBindTexture escolhe qual textura a próxima chamada afetará.</a:t>
            </a:r>
          </a:p>
          <a:p xmlns:a="http://schemas.openxmlformats.org/drawingml/2006/main">
            <a:r>
              <a:t>Tempo previsto: 2 min. Fonte conceitual: STEMKOSKI; PASCALE (2022), 5.1, p. 194–201.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peça memorização dos nove parâmetros. Destaque largura, altura, RGBA e pixelData. O nível 0 representa a imagem base. Mipmaps reduzem artefatos e ajudam na escolha de amostras quando a imagem ocupa menos espaço na tela.</a:t>
            </a:r>
          </a:p>
          <a:p xmlns:a="http://schemas.openxmlformats.org/drawingml/2006/main">
            <a:r>
              <a:t>Tempo previsto: 3 min. Fonte conceitual: STEMKOSKI; PASCALE (2022), 5.1, p. 194–201.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filtro de ampliação e filtro de minificação. Nossa Texture usa GL_LINEAR para ampliação e GL_LINEAR_MIPMAP_LINEAR para minificação. O filtro com mipmaps requer a geração dos níveis. GL_CLAMP_TO_EDGE prende a amostra às bordas em vez de repetir.</a:t>
            </a:r>
          </a:p>
          <a:p xmlns:a="http://schemas.openxmlformats.org/drawingml/2006/main">
            <a:r>
              <a:t>Tempo previsto: 2 min. Fonte conceitual: STEMKOSKI; PASCALE (2022), 5.1, p. 194–201.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posição XYZ descreve onde o vértice está no espaço. Uma coordenada UV descreve um ponto da imagem associado a esse vértice. UV pode ultrapassar 0 e 1, conforme a repetição configurada. Mostre cada canto no diagrama.</a:t>
            </a:r>
          </a:p>
          <a:p xmlns:a="http://schemas.openxmlformats.org/drawingml/2006/main">
            <a:r>
              <a:t>Tempo previsto: 2 min. Fonte conceitual: STEMKOSKI; PASCALE (2022), 5.2, p. 201–206.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A1 ao canto inferior esquerdo e D4 ao superior direito. A grade assimétrica evita que uma imagem invertida passe despercebida. Os valores descrevem posições normalizadas, não índices inteiros de pixels.</a:t>
            </a:r>
          </a:p>
          <a:p xmlns:a="http://schemas.openxmlformats.org/drawingml/2006/main">
            <a:r>
              <a:t>Tempo previsto: 3 min. Fonte conceitual: STEMKOSKI; PASCALE (2022), 5.2, p. 201–206.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triângulos usam P0,P1,P3 e P0,P3,P2. Portanto o UV usa T0,T1,T3 e T0,T3,T2. A diagonal compartilha P0 e P3, que aparecem duas vezes. Associar UV na ordem errada pode espelhar ou distorcer a imagem.</a:t>
            </a:r>
          </a:p>
          <a:p xmlns:a="http://schemas.openxmlformats.org/drawingml/2006/main">
            <a:r>
              <a:t>Tempo previsto: 3 min. Fonte conceitual: STEMKOSKI; PASCALE (2022), 5.2, p. 201–206.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retângulo frontal desta demonstração, o centro recebe aproximadamente (0.5,0.5). O OpenGL realiza interpolação com correção de perspectiva por padrão. Não é necessário criar um vértice para cada pixel. A GPU calcula valores intermediários.</a:t>
            </a:r>
          </a:p>
          <a:p xmlns:a="http://schemas.openxmlformats.org/drawingml/2006/main">
            <a:r>
              <a:t>Tempo previsto: 2 min. Fonte conceitual: STEMKOSKI; PASCALE (2022), 5.2, p. 201–206.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as duas execuções do retângulo: exemplo_retangulo.py e exemplo_retangulo.py --repetir 2. GL_REPEAT permite repetir a imagem para UV além de 1. A expressão UV = vertexUV * repeatUV + offsetUV aplica escala e deslocamento às coordenadas. Não aprofunde animação de shader, que pertence a outra seção.</a:t>
            </a:r>
          </a:p>
          <a:p xmlns:a="http://schemas.openxmlformats.org/drawingml/2006/main">
            <a:r>
              <a:t>Tempo previsto: 3 min. Fonte conceitual: STEMKOSKI; PASCALE (2022), 5.2, p. 201–206.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C. As outras alternativas apontam cantos. Pergunte também o que U=0.25 significa: um quarto do percurso horizontal, preservando o valor de V escolhido. Não representa necessariamente o pixel de índice 0.25.</a:t>
            </a:r>
          </a:p>
          <a:p xmlns:a="http://schemas.openxmlformats.org/drawingml/2006/main">
            <a:r>
              <a:t>Tempo previsto: 2 min. Fonte conceitual: STEMKOSKI; PASCALE (2022), 5.2, p. 201–206.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Mantenha o foco na passagem de vertexUV para UV e na consulta da imagem. Os alunos já conhecem as matrizes do capítulo anterior. Não confundir shader com a imagem: shader é o programa que usa esses dados.</a:t>
            </a:r>
          </a:p>
          <a:p xmlns:a="http://schemas.openxmlformats.org/drawingml/2006/main">
            <a:r>
              <a:t>Tempo previsto: 2 min. Fonte conceitual: STEMKOSKI; PASCALE (2022), 5.3, p. 206–212. Adaptação de sintaxe para GLSL 150 core: texture() e uniform textureSampler.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no arquivo completo a linha gl_Position = projectionMatrix * viewMatrix * modelMatrix * vec4(vertexPosition,1.0). A ordem usa as matrizes já estudadas. Nesta aula o novo elemento é UV. O shader fornecido usa #version 150 core.</a:t>
            </a:r>
          </a:p>
          <a:p xmlns:a="http://schemas.openxmlformats.org/drawingml/2006/main">
            <a:r>
              <a:t>Tempo previsto: 2 min. Fonte conceitual: STEMKOSKI; PASCALE (2022), 5.3, p. 206–212. Adaptação de sintaxe para GLSL 150 core: texture() e uniform textureSampler.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livro usa texture2D. O projeto usa texture() em GLSL 150 core para compatibilidade com o contexto OpenGL 3.2. O nome textureSampler evita colisão com a função. No arquivo completo, baseColor multiplica a amostra e fragmentos de alpha inferior a 0.10 são descartados.</a:t>
            </a:r>
          </a:p>
          <a:p xmlns:a="http://schemas.openxmlformats.org/drawingml/2006/main">
            <a:r>
              <a:t>Tempo previsto: 3 min. Fonte conceitual: STEMKOSKI; PASCALE (2022), 5.3, p. 206–212. Adaptação de sintaxe para GLSL 150 core: texture() e uniform textureSampler.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unidade 1 é uma escolha do material. Uniform.data contém [textureRef,1]. glActiveTexture(GL_TEXTURE0+1) ativa a unidade, glBindTexture associa a imagem e glUniform1i envia 1. O sampler não recebe textureRef. Renderer atualiza matrizes e executa o desenho.</a:t>
            </a:r>
          </a:p>
          <a:p xmlns:a="http://schemas.openxmlformats.org/drawingml/2006/main">
            <a:r>
              <a:t>Tempo previsto: 3 min. Fonte conceitual: STEMKOSKI; PASCALE (2022), 5.3, p. 206–212. Adaptação de sintaxe para GLSL 150 core: texture() e uniform textureSampler.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B. O carregamento prepara a imagem, mas a consulta que participa do cálculo da cor acontece no fragment shader. O vertex shader encaminha UV. Peça que os alunos descrevam esse percurso em uma frase.</a:t>
            </a:r>
          </a:p>
          <a:p xmlns:a="http://schemas.openxmlformats.org/drawingml/2006/main">
            <a:r>
              <a:t>Tempo previsto: 1 min. Fonte conceitual: STEMKOSKI; PASCALE (2022), 5.3, p. 206–212. Adaptação de sintaxe para GLSL 150 core: texture() e uniform textureSampler.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resultado esperado antes de abrir o código. Chame atenção para a orientação das letras e para a ausência de descontinuidade na diagonal. O resultado mostrado é uma captura do exemplo_retangulo.py.</a:t>
            </a:r>
          </a:p>
          <a:p xmlns:a="http://schemas.openxmlformats.org/drawingml/2006/main">
            <a:r>
              <a:t>Tempo previsto: 2 min. Fonte conceitual: STEMKOSKI; PASCALE (2022), 5.4, p. 212–215.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slide usa caminho como abreviação do Path mostrado no slide 11. No arquivo entregue o caminho completo está presente. A câmera usa aspecto 960/640 e posição [0,0,2.5]. O renderer recebe a cena e a câmera em update().</a:t>
            </a:r>
          </a:p>
          <a:p xmlns:a="http://schemas.openxmlformats.org/drawingml/2006/main">
            <a:r>
              <a:t>Tempo previsto: 3 min. Fonte conceitual: STEMKOSKI; PASCALE (2022), 5.4, p. 212–215.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ao vivo. Mostre que não há dependência do diretório atual para localizar images. Compare o UV no arquivo da geometria com os cantos da grade. Se houver uma imagem invertida, revise a conversão RGBA e não altere UV ao acaso.</a:t>
            </a:r>
          </a:p>
          <a:p xmlns:a="http://schemas.openxmlformats.org/drawingml/2006/main">
            <a:r>
              <a:t>Tempo previsto: 3 min. Fonte conceitual: STEMKOSKI; PASCALE (2022), 5.4, p. 212–215.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São 36 entradas de vértice e 36 entradas UV. A repetição do padrão por face faz a imagem começar novamente em cada lado. Isto não é um atlas UV. A orientação aparente muda com a posição da face e com a rotação da câmera/objeto.</a:t>
            </a:r>
          </a:p>
          <a:p xmlns:a="http://schemas.openxmlformats.org/drawingml/2006/main">
            <a:r>
              <a:t>Tempo previsto: 2 min. Fonte conceitual: STEMKOSKI; PASCALE (2022), 5.4, p. 212–215.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ângulos iniciais deixam três faces visíveis. A câmera está em [0,0,3.2]. O construtor BoxGeometry fornece o padrão [T0,T1,T3,T0,T3,T2]*6. O estado inicial não é o eixo da animação: a alteração a cada quadro acontece em update().</a:t>
            </a:r>
          </a:p>
          <a:p xmlns:a="http://schemas.openxmlformats.org/drawingml/2006/main">
            <a:r>
              <a:t>Tempo previsto: 2 min. Fonte conceitual: STEMKOSKI; PASCALE (2022), 5.4, p. 212–215.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python exemplo_cubo.py. O arquivo completo também aceita X e Z. Multiplicar por deltaTime reduz a dependência da taxa de quadros. Explique 0.8 rad/s sem exigir conversões: maior módulo significa giro mais rápido e sinal negativo inverte o sentido.</a:t>
            </a:r>
          </a:p>
          <a:p xmlns:a="http://schemas.openxmlformats.org/drawingml/2006/main">
            <a:r>
              <a:t>Tempo previsto: 3 min. Fonte conceitual: STEMKOSKI; PASCALE (2022), 5.4, p. 212–215.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Outros pontos: contexto OpenGL precisa existir antes de criar Texture; mipmaps precisam existir se o filtro os utiliza; a proporção da imagem e do retângulo pode causar estiramento. O suporte do driver e o contexto core importam quando a janela não abre.</a:t>
            </a:r>
          </a:p>
          <a:p xmlns:a="http://schemas.openxmlformats.org/drawingml/2006/main">
            <a:r>
              <a:t>Tempo previsto: 2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uma revisão oral curta: imagem na GPU, coordenadas por vértice, interpolação, amostragem e cor final. Referência bibliográfica verificada no expediente do livro. O código da aula é uma reimplementação didática de um subconjunto do framework, com adaptações documentadas no README.</a:t>
            </a:r>
          </a:p>
          <a:p xmlns:a="http://schemas.openxmlformats.org/drawingml/2006/main">
            <a:r>
              <a:t>Tempo previsto: 1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desta etapa: 2 min para explicar o enunciado e 15 min de desenvolvimento. Trabalhar em dupla. Lembre que as transformações de Object3D são locais: posicione com setPosition e só depois aplique scale, senão a distância também encolhe. Base oferece isKeyPressed('up'). Disponibilize somente alunos, sem a pasta professor. Não indique as linhas da solução.</a:t>
            </a:r>
          </a:p>
          <a:p xmlns:a="http://schemas.openxmlformats.org/drawingml/2006/main">
            <a:r>
              <a:t>Tempo previsto: 17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3 min para a entrega. Rubrica total de 10 pontos como referência didática. Confira órbita, teclado e rotação própria pelo código ou pela execução, pois uma captura isolada não comprova a animação. A solução comentada está separada na pasta professor.</a:t>
            </a:r>
          </a:p>
          <a:p xmlns:a="http://schemas.openxmlformats.org/drawingml/2006/main">
            <a:r>
              <a:t>Tempo previsto: 3 min. Fonte conceitual: STEMKOSKI; PASCALE (2022), Capítulo 5, p. 193–215. Documentação de apoio: https://www.pygame.org/docs/ref/display.html e https://pyopengl.sourceforge.net/documentation/manual-3.0/glUniform.html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e06d2897046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05b5b3cac46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38b72f91c4b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e4f18ac6c42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b2eecb9d34d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26626233346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9F5D5EB-2AFB-453C-B9D6-AC955A33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77E508-9167-4166-B5DF-1B9F5D7AB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D99A00E-A7CA-42D7-9829-DB256F8B2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155140C-A1A0-4D6D-8C52-35CA9E6D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C1C145-EAAF-41E6-A7A2-FFE98F1B13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7CABD3-30E5-43C6-8CEB-3EFB0AF2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6D0F55-EC62-40FC-9167-67BE3B06D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469D76D-52F0-4458-9D91-6379BC62B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90BEE50-C2F3-44D4-AAB2-CEDD088B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86BD5F-22AA-468E-9BE2-AF54C178F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A0FEE8-7D8C-4854-B0D0-32BE077AF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D08D37-7F4B-4ECC-A6B8-D38B2159C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F94E4CF-AFB5-4591-AE39-7C6B3664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F9CA5C-497D-4F79-A900-D2759979C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75FF43-6F98-415C-9B9B-070E0C5F6F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52ba143446499a" /><Relationship Type="http://schemas.openxmlformats.org/officeDocument/2006/relationships/slideLayout" Target="/ppt/slideLayouts/slideLayout1.xml" Id="R30deb291abe849dd" /><Relationship Type="http://schemas.openxmlformats.org/officeDocument/2006/relationships/slideLayout" Target="/ppt/slideLayouts/slideLayout2.xml" Id="R6d0bcf4342584147" /><Relationship Type="http://schemas.openxmlformats.org/officeDocument/2006/relationships/slideLayout" Target="/ppt/slideLayouts/slideLayout3.xml" Id="R5a627c65b0434c68" /><Relationship Type="http://schemas.openxmlformats.org/officeDocument/2006/relationships/slideLayout" Target="/ppt/slideLayouts/slideLayout4.xml" Id="R775fae3116e64168" /><Relationship Type="http://schemas.openxmlformats.org/officeDocument/2006/relationships/slideLayout" Target="/ppt/slideLayouts/slideLayout5.xml" Id="Re5a9718eb55d4a8b" /><Relationship Type="http://schemas.openxmlformats.org/officeDocument/2006/relationships/slideLayout" Target="/ppt/slideLayouts/slideLayout6.xml" Id="R6460274891dd44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eb291abe849dd"/>
    <p:sldLayoutId xmlns:r="http://schemas.openxmlformats.org/officeDocument/2006/relationships" id="2147483650" r:id="R6d0bcf4342584147"/>
    <p:sldLayoutId xmlns:r="http://schemas.openxmlformats.org/officeDocument/2006/relationships" id="2147483651" r:id="R5a627c65b0434c68"/>
    <p:sldLayoutId xmlns:r="http://schemas.openxmlformats.org/officeDocument/2006/relationships" id="2147483652" r:id="R775fae3116e64168"/>
    <p:sldLayoutId xmlns:r="http://schemas.openxmlformats.org/officeDocument/2006/relationships" id="2147483653" r:id="Re5a9718eb55d4a8b"/>
    <p:sldLayoutId xmlns:r="http://schemas.openxmlformats.org/officeDocument/2006/relationships" id="2147483654" r:id="R6460274891dd44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100c96d8344b87" /><Relationship Type="http://schemas.openxmlformats.org/officeDocument/2006/relationships/image" Target="/ppt/media/image.png" Id="R927c982b6bcb451c" /><Relationship Type="http://schemas.openxmlformats.org/officeDocument/2006/relationships/image" Target="/ppt/media/image2.png" Id="R31feea2f471e4019" /><Relationship Type="http://schemas.openxmlformats.org/officeDocument/2006/relationships/notesSlide" Target="/ppt/notesSlides/notesSlide1.xml" Id="Rd9e031cc333341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790b530984b00" /><Relationship Type="http://schemas.openxmlformats.org/officeDocument/2006/relationships/image" Target="/ppt/media/image3.png" Id="Rf18b571a975140c3" /><Relationship Type="http://schemas.openxmlformats.org/officeDocument/2006/relationships/notesSlide" Target="/ppt/notesSlides/notesSlide2.xml" Id="Re3ea56a641df43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e03bc29e04c4f" /><Relationship Type="http://schemas.openxmlformats.org/officeDocument/2006/relationships/image" Target="/ppt/media/image4.png" Id="R5494473f94f541d7" /><Relationship Type="http://schemas.openxmlformats.org/officeDocument/2006/relationships/image" Target="/ppt/media/image5.png" Id="R845148d0b5694448" /><Relationship Type="http://schemas.openxmlformats.org/officeDocument/2006/relationships/image" Target="/ppt/media/image6.png" Id="R212df9ab8f3d4d97" /><Relationship Type="http://schemas.openxmlformats.org/officeDocument/2006/relationships/notesSlide" Target="/ppt/notesSlides/notesSlide3.xml" Id="R6de9deb7b5624a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c31698d5f41e1" /><Relationship Type="http://schemas.openxmlformats.org/officeDocument/2006/relationships/image" Target="/ppt/media/image7.png" Id="R44f531e6510542d4" /><Relationship Type="http://schemas.openxmlformats.org/officeDocument/2006/relationships/image" Target="/ppt/media/image.jpeg" Id="R1adc77da241f4948" /><Relationship Type="http://schemas.openxmlformats.org/officeDocument/2006/relationships/notesSlide" Target="/ppt/notesSlides/notesSlide4.xml" Id="R7dc7c6f337bd4c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b0549331454f49" /><Relationship Type="http://schemas.openxmlformats.org/officeDocument/2006/relationships/image" Target="/ppt/media/image8.png" Id="R86195a88f9084b88" /><Relationship Type="http://schemas.openxmlformats.org/officeDocument/2006/relationships/notesSlide" Target="/ppt/notesSlides/notesSlide5.xml" Id="R1995c272bb9e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3f3b0a5b04611" /><Relationship Type="http://schemas.openxmlformats.org/officeDocument/2006/relationships/image" Target="/ppt/media/image9.png" Id="Rf60e3c9b64b14a85" /><Relationship Type="http://schemas.openxmlformats.org/officeDocument/2006/relationships/notesSlide" Target="/ppt/notesSlides/notesSlide6.xml" Id="Re5cb1ccdb2e04f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25730768746fd" /><Relationship Type="http://schemas.openxmlformats.org/officeDocument/2006/relationships/image" Target="/ppt/media/image10.png" Id="R1397dfee6c8a4bc0" /><Relationship Type="http://schemas.openxmlformats.org/officeDocument/2006/relationships/image" Target="/ppt/media/image2.jpeg" Id="R553cd91e0f154db0" /><Relationship Type="http://schemas.openxmlformats.org/officeDocument/2006/relationships/notesSlide" Target="/ppt/notesSlides/notesSlide7.xml" Id="Rc91aa7bec12c46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bb098c1db4eb6" /><Relationship Type="http://schemas.openxmlformats.org/officeDocument/2006/relationships/image" Target="/ppt/media/image11.png" Id="R056960aece594b08" /><Relationship Type="http://schemas.openxmlformats.org/officeDocument/2006/relationships/notesSlide" Target="/ppt/notesSlides/notesSlide8.xml" Id="R61a67f0f84ec41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7119783ce4666" /><Relationship Type="http://schemas.openxmlformats.org/officeDocument/2006/relationships/image" Target="/ppt/media/image12.png" Id="R4918dfcf2f654174" /><Relationship Type="http://schemas.openxmlformats.org/officeDocument/2006/relationships/notesSlide" Target="/ppt/notesSlides/notesSlide9.xml" Id="R85d3c34397c146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66594c3194a16" /><Relationship Type="http://schemas.openxmlformats.org/officeDocument/2006/relationships/image" Target="/ppt/media/image13.png" Id="R2f6fa16df7f34ef4" /><Relationship Type="http://schemas.openxmlformats.org/officeDocument/2006/relationships/notesSlide" Target="/ppt/notesSlides/notesSlide10.xml" Id="R1941630ec94f4f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65259f92b43db" /><Relationship Type="http://schemas.openxmlformats.org/officeDocument/2006/relationships/image" Target="/ppt/media/image14.png" Id="R99ebac3b44ed47b4" /><Relationship Type="http://schemas.openxmlformats.org/officeDocument/2006/relationships/notesSlide" Target="/ppt/notesSlides/notesSlide11.xml" Id="Rd8d2cfc0e64e44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92fa7b14d4e1b" /><Relationship Type="http://schemas.openxmlformats.org/officeDocument/2006/relationships/image" Target="/ppt/media/image15.png" Id="R386fd3102c5d440d" /><Relationship Type="http://schemas.openxmlformats.org/officeDocument/2006/relationships/notesSlide" Target="/ppt/notesSlides/notesSlide12.xml" Id="R7d9f575ea2fa46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9356b16c54b03" /><Relationship Type="http://schemas.openxmlformats.org/officeDocument/2006/relationships/image" Target="/ppt/media/image16.png" Id="R97ee58e43fc94eeb" /><Relationship Type="http://schemas.openxmlformats.org/officeDocument/2006/relationships/notesSlide" Target="/ppt/notesSlides/notesSlide13.xml" Id="R6990d1db44004d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8d201039a4546" /><Relationship Type="http://schemas.openxmlformats.org/officeDocument/2006/relationships/image" Target="/ppt/media/image17.png" Id="Rddd5dea5316d4942" /><Relationship Type="http://schemas.openxmlformats.org/officeDocument/2006/relationships/notesSlide" Target="/ppt/notesSlides/notesSlide14.xml" Id="Ra47b353d14c449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7d6ef64df4dec" /><Relationship Type="http://schemas.openxmlformats.org/officeDocument/2006/relationships/image" Target="/ppt/media/image18.png" Id="R177b890b87fd446e" /><Relationship Type="http://schemas.openxmlformats.org/officeDocument/2006/relationships/notesSlide" Target="/ppt/notesSlides/notesSlide15.xml" Id="R4a9144dd7e9348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d30adc76947ca" /><Relationship Type="http://schemas.openxmlformats.org/officeDocument/2006/relationships/image" Target="/ppt/media/image19.png" Id="Rd845d564805d4c8a" /><Relationship Type="http://schemas.openxmlformats.org/officeDocument/2006/relationships/image" Target="/ppt/media/image20.png" Id="R6d8ca281ef40455a" /><Relationship Type="http://schemas.openxmlformats.org/officeDocument/2006/relationships/notesSlide" Target="/ppt/notesSlides/notesSlide16.xml" Id="Rbf383dd911454b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d5b2f39ff408a" /><Relationship Type="http://schemas.openxmlformats.org/officeDocument/2006/relationships/image" Target="/ppt/media/image21.png" Id="R9c4c653148f14940" /><Relationship Type="http://schemas.openxmlformats.org/officeDocument/2006/relationships/notesSlide" Target="/ppt/notesSlides/notesSlide17.xml" Id="R6c7d950ad9ee4c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b60b3882f418f" /><Relationship Type="http://schemas.openxmlformats.org/officeDocument/2006/relationships/image" Target="/ppt/media/image22.png" Id="R1b86cc274114468a" /><Relationship Type="http://schemas.openxmlformats.org/officeDocument/2006/relationships/notesSlide" Target="/ppt/notesSlides/notesSlide18.xml" Id="R3c712cd0ccfc41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19a67bac24ee0" /><Relationship Type="http://schemas.openxmlformats.org/officeDocument/2006/relationships/image" Target="/ppt/media/image23.png" Id="R754299b675934452" /><Relationship Type="http://schemas.openxmlformats.org/officeDocument/2006/relationships/image" Target="/ppt/media/image24.png" Id="Rdcc9731c013c45b3" /><Relationship Type="http://schemas.openxmlformats.org/officeDocument/2006/relationships/image" Target="/ppt/media/image25.png" Id="R8b535a85f20d4fef" /><Relationship Type="http://schemas.openxmlformats.org/officeDocument/2006/relationships/notesSlide" Target="/ppt/notesSlides/notesSlide19.xml" Id="R1eb41747dee64b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d26189ac8485b" /><Relationship Type="http://schemas.openxmlformats.org/officeDocument/2006/relationships/image" Target="/ppt/media/image26.png" Id="R4c620d176aac4cb8" /><Relationship Type="http://schemas.openxmlformats.org/officeDocument/2006/relationships/notesSlide" Target="/ppt/notesSlides/notesSlide20.xml" Id="R23a4352ca9c14a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02131f968143d4" /><Relationship Type="http://schemas.openxmlformats.org/officeDocument/2006/relationships/image" Target="/ppt/media/image27.png" Id="R5feaa562605d4232" /><Relationship Type="http://schemas.openxmlformats.org/officeDocument/2006/relationships/notesSlide" Target="/ppt/notesSlides/notesSlide21.xml" Id="R3658189a6b3841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333d4f16f46f6" /><Relationship Type="http://schemas.openxmlformats.org/officeDocument/2006/relationships/image" Target="/ppt/media/image28.png" Id="R95c046c7a71a4b3b" /><Relationship Type="http://schemas.openxmlformats.org/officeDocument/2006/relationships/notesSlide" Target="/ppt/notesSlides/notesSlide22.xml" Id="Ra81211d4b5a145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181973ed14cd6" /><Relationship Type="http://schemas.openxmlformats.org/officeDocument/2006/relationships/image" Target="/ppt/media/image29.png" Id="R3fb0f20f4d394a3b" /><Relationship Type="http://schemas.openxmlformats.org/officeDocument/2006/relationships/notesSlide" Target="/ppt/notesSlides/notesSlide23.xml" Id="Rc06c94ece9414a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8351cdb7f45df" /><Relationship Type="http://schemas.openxmlformats.org/officeDocument/2006/relationships/image" Target="/ppt/media/image30.png" Id="Rdc1ba21b8a6643ea" /><Relationship Type="http://schemas.openxmlformats.org/officeDocument/2006/relationships/notesSlide" Target="/ppt/notesSlides/notesSlide24.xml" Id="R30a578f8c5834d6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dc91427824c52" /><Relationship Type="http://schemas.openxmlformats.org/officeDocument/2006/relationships/image" Target="/ppt/media/image31.png" Id="R5a0e84bca4e74100" /><Relationship Type="http://schemas.openxmlformats.org/officeDocument/2006/relationships/notesSlide" Target="/ppt/notesSlides/notesSlide25.xml" Id="R1742dd65473e44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4a2eaaf474b2b" /><Relationship Type="http://schemas.openxmlformats.org/officeDocument/2006/relationships/image" Target="/ppt/media/image32.png" Id="R4158d5ce7e444665" /><Relationship Type="http://schemas.openxmlformats.org/officeDocument/2006/relationships/image" Target="/ppt/media/image33.png" Id="R30ef961f141b45b9" /><Relationship Type="http://schemas.openxmlformats.org/officeDocument/2006/relationships/notesSlide" Target="/ppt/notesSlides/notesSlide26.xml" Id="Rdbe0b7677349412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f5d8aec0a4324" /><Relationship Type="http://schemas.openxmlformats.org/officeDocument/2006/relationships/image" Target="/ppt/media/image34.png" Id="Rce82de013213467c" /><Relationship Type="http://schemas.openxmlformats.org/officeDocument/2006/relationships/notesSlide" Target="/ppt/notesSlides/notesSlide27.xml" Id="Re522d435668b4a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866262c254d63" /><Relationship Type="http://schemas.openxmlformats.org/officeDocument/2006/relationships/image" Target="/ppt/media/image35.png" Id="Rce23182d629c40dd" /><Relationship Type="http://schemas.openxmlformats.org/officeDocument/2006/relationships/notesSlide" Target="/ppt/notesSlides/notesSlide28.xml" Id="Re6204639e10749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edcae42ff45be" /><Relationship Type="http://schemas.openxmlformats.org/officeDocument/2006/relationships/image" Target="/ppt/media/image36.png" Id="R06fb2b84ae8e4051" /><Relationship Type="http://schemas.openxmlformats.org/officeDocument/2006/relationships/image" Target="/ppt/media/image37.png" Id="R2e799698c4ee4253" /><Relationship Type="http://schemas.openxmlformats.org/officeDocument/2006/relationships/notesSlide" Target="/ppt/notesSlides/notesSlide29.xml" Id="R59fe745182644cd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d54468668450f" /><Relationship Type="http://schemas.openxmlformats.org/officeDocument/2006/relationships/image" Target="/ppt/media/image38.png" Id="R3e06c05fc75c4804" /><Relationship Type="http://schemas.openxmlformats.org/officeDocument/2006/relationships/notesSlide" Target="/ppt/notesSlides/notesSlide30.xml" Id="Ra855312ba68e42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7a68524784d19" /><Relationship Type="http://schemas.openxmlformats.org/officeDocument/2006/relationships/image" Target="/ppt/media/image39.png" Id="Rcdc4a1a5b27b463a" /><Relationship Type="http://schemas.openxmlformats.org/officeDocument/2006/relationships/notesSlide" Target="/ppt/notesSlides/notesSlide31.xml" Id="Rcd86f84962f247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b58da64634bff" /><Relationship Type="http://schemas.openxmlformats.org/officeDocument/2006/relationships/image" Target="/ppt/media/image40.png" Id="R65596cc781314aef" /><Relationship Type="http://schemas.openxmlformats.org/officeDocument/2006/relationships/notesSlide" Target="/ppt/notesSlides/notesSlide32.xml" Id="Ra305855368814e5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b0d58e1542431b" /><Relationship Type="http://schemas.openxmlformats.org/officeDocument/2006/relationships/image" Target="/ppt/media/image41.png" Id="R10b20b3e18d548ae" /><Relationship Type="http://schemas.openxmlformats.org/officeDocument/2006/relationships/notesSlide" Target="/ppt/notesSlides/notesSlide33.xml" Id="R302ef196fdd3416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912c86c914541" /><Relationship Type="http://schemas.openxmlformats.org/officeDocument/2006/relationships/image" Target="/ppt/media/image42.png" Id="R5951b8f2a7354380" /><Relationship Type="http://schemas.openxmlformats.org/officeDocument/2006/relationships/notesSlide" Target="/ppt/notesSlides/notesSlide34.xml" Id="R0394e808829f426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96d0124744f28" /><Relationship Type="http://schemas.openxmlformats.org/officeDocument/2006/relationships/image" Target="/ppt/media/image43.png" Id="R0eec92fde0f84fa8" /><Relationship Type="http://schemas.openxmlformats.org/officeDocument/2006/relationships/notesSlide" Target="/ppt/notesSlides/notesSlide35.xml" Id="Rb93ef790c63c4d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c982b6bcb451c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0AA66-8F24-4501-A2CC-194BD30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Texturas em Computação Gráfica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87CDE-3DA0-4328-ACC6-FFD5762D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01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06211-A1F2-41DD-9514-61918492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5238750" cy="471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Python e OpenGL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AFD44-FFC8-4B90-9949-6F88100C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95778"/>
            <a:ext cx="5238750" cy="88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Da imagem ao retângulo e ao cubo em rotação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C62B-2A03-4091-A974-EC23FD17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5834"/>
            <a:ext cx="5238750" cy="88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Prof. Rodrigo Fernandes dos Santos</a:t>
            </a:r>
          </a:p>
          <a:p xmlns:a="http://schemas.openxmlformats.org/drawingml/2006/main">
            <a:pPr>
              <a:defRPr sz="25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Ciência da Computação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eea2f471e4019"/>
          <a:stretch xmlns:a="http://schemas.openxmlformats.org/drawingml/2006/main"/>
        </p:blipFill>
        <p:spPr>
          <a:xfrm xmlns:a="http://schemas.openxmlformats.org/drawingml/2006/main">
            <a:off x="7762875" y="2359963"/>
            <a:ext cx="3476625" cy="34239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80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b571a975140c3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07D00-6FB1-4273-98CB-DFAEB79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Objetivos e percurso da aula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B0F30-8C13-45C6-B573-8E1BC258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02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21DD-ACD8-4F27-9D5A-EEAB8E76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Compreender textura, texel e coordenadas UV.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A5CAE-19F2-4353-A024-C85EA435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16302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Relacionar Texture e TextureMaterial à geometria e aos shaders.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497DC-96BE-4849-A996-E701C11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8104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Executar um retângulo texturizado e um cubo em rotação.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C58EC-1B12-40DA-9D97-AAD599CA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9906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Adaptar o cubo em dupla nos 20 minutos finais.</a:t>
            </a:r>
          </a:p>
        </p:txBody>
      </p:sp>
    </p:spTree>
    <p:extLst>
      <p:ext uri="{BB962C8B-B14F-4D97-AF65-F5344CB8AC3E}">
        <p14:creationId xmlns:p14="http://schemas.microsoft.com/office/powerpoint/2010/main" val="71866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4473f94f541d7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3C379-ACBD-44AE-B334-15576262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Cor uniforme e textura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3E863-2460-45FB-AE66-9D728FF1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03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ACFEA-1D1F-4ED8-80E5-3AD3457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mesma geometria pode receber aparências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4AB2D-32CF-4E1B-B33A-AACD78A1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5376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Uma cor uniforme cobre a superfície com um único valor.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C283F-AC90-4D78-A40A-2C366E4A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878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Uma textura permite variar a cor conforme a posição na imagem.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148d0b5694448"/>
          <a:stretch xmlns:a="http://schemas.openxmlformats.org/drawingml/2006/main"/>
        </p:blipFill>
        <p:spPr>
          <a:xfrm xmlns:a="http://schemas.openxmlformats.org/drawingml/2006/main">
            <a:off x="2932967" y="3190875"/>
            <a:ext cx="2611315" cy="2571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df9ab8f3d4d97"/>
          <a:stretch xmlns:a="http://schemas.openxmlformats.org/drawingml/2006/main"/>
        </p:blipFill>
        <p:spPr>
          <a:xfrm xmlns:a="http://schemas.openxmlformats.org/drawingml/2006/main">
            <a:off x="7743092" y="3190875"/>
            <a:ext cx="2611315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943FC-7170-44BF-B8B3-B5702D3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578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Cor uniforme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A24EF-08AB-4518-B510-E3DE54D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85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Textura</a:t>
            </a:r>
          </a:p>
        </p:txBody>
      </p:sp>
    </p:spTree>
    <p:extLst>
      <p:ext uri="{BB962C8B-B14F-4D97-AF65-F5344CB8AC3E}">
        <p14:creationId xmlns:p14="http://schemas.microsoft.com/office/powerpoint/2010/main" val="259785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531e6510542d4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EDB75-CE3B-45B6-9A05-628ADDB5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que é uma textura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C4DDC-9D24-47C8-8980-E991226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04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92B40-5B02-4A1F-BB07-D1218331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Uma textura armazena dados que o shader consulta durante a renderização.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5B618-B335-42F8-A0F8-8084917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3177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Nesta aula, esses dados vêm de uma imagem 2D.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AD8A5-E8DC-4597-B86A-5E33763B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4904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Padrões de madeira, pisos, rótulos e interfaces são aplicações comuns.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c77da241f4948"/>
          <a:stretch xmlns:a="http://schemas.openxmlformats.org/drawingml/2006/main"/>
        </p:blipFill>
        <p:spPr>
          <a:xfrm xmlns:a="http://schemas.openxmlformats.org/drawingml/2006/main">
            <a:off x="7261802" y="1809750"/>
            <a:ext cx="4145395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B150A-4087-4E13-A51D-6D65F26A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9531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Exemplo do livro: imagem de madeira aplicada a uma caixa</a:t>
            </a:r>
          </a:p>
        </p:txBody>
      </p:sp>
    </p:spTree>
    <p:extLst>
      <p:ext uri="{BB962C8B-B14F-4D97-AF65-F5344CB8AC3E}">
        <p14:creationId xmlns:p14="http://schemas.microsoft.com/office/powerpoint/2010/main" val="1400841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95a88f9084b88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59C2F-A1AB-4429-94BE-8211AD5B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Geometria, cor e textura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13803-DD72-4D57-9873-9F08A939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05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165F3-B302-4919-B7E8-CCAC856F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Geometria: define os vértices e os triângulos da superfície.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93CBB-6FEB-4C0C-8416-F163A23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14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Cor uniforme: fornece uma mesma cor de base para o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54033-ABD1-45F5-B871-61E6720E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358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Textura: fornece dados de cor consultados com coordenadas UV.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1E264-C03E-491D-AB75-C88A5F44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5754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 exemplo, Mesh reúne a geometria e o material texturizado.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25E71-7758-4D51-8163-95B7030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1487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F9E8D-B492-49E6-8B22-545A6206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91075"/>
            <a:ext cx="2343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Geometry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Posições + UV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8BD55-D4BE-4A67-8A89-D34B9717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14875"/>
            <a:ext cx="3524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FFAF0-62C7-4C26-8C14-5277CEDC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91075"/>
            <a:ext cx="3295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Material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Shaders + uniforms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92B61-ADE9-4EF8-AFF2-4E2A05B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10125" y="5191125"/>
            <a:ext cx="1476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BC077-F3A9-4892-9C14-F8665B5B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0" y="5191125"/>
            <a:ext cx="1190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1EAF3-5D79-4E59-A4A2-66A1626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767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Mesh</a:t>
            </a:r>
          </a:p>
        </p:txBody>
      </p:sp>
    </p:spTree>
    <p:extLst>
      <p:ext uri="{BB962C8B-B14F-4D97-AF65-F5344CB8AC3E}">
        <p14:creationId xmlns:p14="http://schemas.microsoft.com/office/powerpoint/2010/main" val="783626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3c9b64b14a85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1A1A9-B1A1-45B6-B861-8963ADA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Analogia: revestindo uma caixa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61803-BB46-4A18-9B5E-2B537B7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06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C3DDE-9383-4E4E-ABF3-9E89BC8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caixa representa a geometria.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3B0F2-473D-4E4A-BEBA-4A3779F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4085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folha impressa representa a imagem da textura.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9CA56-2F87-4A50-8B71-57BAF1B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892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As marcações de encaixe representam as coordenadas UV.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8F78C-416C-47C1-9FDD-B188842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3755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material orienta como usar a imagem sobre a superfície.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52128-552D-46F5-AC07-B103CB3A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1487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07FCB-C8ED-4519-AA28-594AC012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91075"/>
            <a:ext cx="2247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Caixa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Geometria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D1B90-7075-4C10-91CE-0D5F0BF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2762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3CEE2-ADC9-4201-AD50-692ED24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79107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Folha impressa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Imagem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7770C-989D-4CDA-B13E-C764009F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14875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B57B5-EF27-4C86-AB75-5BA60FF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91075"/>
            <a:ext cx="2152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Encaixe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UV</a:t>
            </a:r>
          </a:p>
        </p:txBody>
      </p:sp>
    </p:spTree>
    <p:extLst>
      <p:ext uri="{BB962C8B-B14F-4D97-AF65-F5344CB8AC3E}">
        <p14:creationId xmlns:p14="http://schemas.microsoft.com/office/powerpoint/2010/main" val="1930355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7dfee6c8a4bc0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02EC5-D187-497A-819E-EC7EDE8A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Pixels e texels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A71BD-735E-4F24-AA49-D6FFA7BD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07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814F2-96D2-4723-BAC5-10E7F078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Pixel: elemento de uma imagem, inclusive do resultado na tela.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67A17-6EC8-4D49-887C-BE1094B4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3741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Texel: elemento da imagem quando ela funciona como textura.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50B93-020D-40BC-8C30-AE5BAE81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5557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GPU amostra texels para calcular a cor dos fragmentos.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1A21A-7B40-4A71-93ED-8B37A729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7373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Um texel não corresponde sempre a um único pixel da tela.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cd91e0f154db0"/>
          <a:stretch xmlns:a="http://schemas.openxmlformats.org/drawingml/2006/main"/>
        </p:blipFill>
        <p:spPr>
          <a:xfrm xmlns:a="http://schemas.openxmlformats.org/drawingml/2006/main">
            <a:off x="4294909" y="4381500"/>
            <a:ext cx="4935682" cy="180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9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960aece594b08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19DEA-5627-47E8-A186-790DB4BF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Pergunta 1: o papel da textura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730E8-6BBE-488A-A90F-DDB2B124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08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42208-07DF-4D13-B940-11C8FE71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62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Ao aplicar uma imagem de madeira a um cubo, o que muda neste exemplo?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4A31B-B676-4B07-8449-D320F41E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95625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A) A quantidade de vértices do cubo.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A9B5-4D36-4EDD-8B60-2FEFBBCD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7719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B) A cor calculada ao longo da superfície.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B6E90-89F0-40EE-88BF-0006F2BC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9813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C) A posição da câmera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1821516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8dfcf2f654174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12BEA-279B-4EA9-B3D7-F2D21E2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Percurso da imagem na renderização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87623-F5F3-495D-B296-5FD7D399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09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EEF51-03FD-4EB0-AB67-0540932E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 carrega a imagem e envia seus dados para a GPU.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CB0FE-16C0-4B54-93A0-AF0D4047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1393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Geometry fornece posições e coordenadas UV.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DE52F-ADB9-4BC9-9A90-507D6274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26411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TextureMaterial associa os shaders à textura.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1EAF9-FA35-487C-859B-8BCFBFB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1429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Renderer desenha a Mesh com a câmera da cena.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70BD4-5CCC-447C-B0D6-A67682BE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4337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D0A00-E8AB-4C0B-9F69-D618871C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219575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Imagem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51FA8-131B-450E-93A3-35365390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43375"/>
            <a:ext cx="381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29505-BB96-4CAB-9080-E42115F0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9575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 na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C195D-31F4-4B5C-8059-6F6FCD0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19625" y="4486275"/>
            <a:ext cx="2524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3F6D8-5921-499E-A28F-C9164F86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48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F1AC9-63A2-4D27-B221-EE369D1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816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6D422-6866-42D9-8316-22D37198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457825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Geometry: UV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DF13B-33D3-4A2C-BB67-F7A1E598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81625"/>
            <a:ext cx="381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CB519-698D-496A-9639-03B9AC3B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57825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Shader: cor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57485-F3A1-4F89-AB4E-234EAB6E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19625" y="5724525"/>
            <a:ext cx="2524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76A9E-8374-4DB5-AB95-307D3152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054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interpolação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6AE0A-8762-496E-A990-4976BDA9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48750" y="4829175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</p:spTree>
    <p:extLst>
      <p:ext uri="{BB962C8B-B14F-4D97-AF65-F5344CB8AC3E}">
        <p14:creationId xmlns:p14="http://schemas.microsoft.com/office/powerpoint/2010/main" val="1545277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fa16df7f34ef4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7D6D2-0BC3-4438-8054-6F64B3C5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Responsabilidade da classe Texture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A0931-57B0-4234-BA32-9C96E108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10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D1439-0609-4D0F-BD60-1DC0BFB9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surface guarda os dados da imagem no Pygame.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774B9-B318-4274-AA29-3BE16920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textureRef identifica o objeto de textura no OpenGL.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5EF15-6A9F-4842-BD0B-AD90A9C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403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loadImage() lê o arquivo local.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7BFCD-D83A-4998-8D45-7264873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9054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uploadData() envia pixels e configura filtros e repetição.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7A9F8-F565-445C-882A-ACBE8C91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6447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core/texture.py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1EFF3-D88D-43D7-876F-1C3BB33E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57447"/>
            <a:ext cx="981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8C188-0953-4DBB-9ECE-543F0ECE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09847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grid = Texture(caminho)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# loadImage() e uploadData()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# acontecem no construtor.</a:t>
            </a:r>
          </a:p>
        </p:txBody>
      </p:sp>
    </p:spTree>
    <p:extLst>
      <p:ext uri="{BB962C8B-B14F-4D97-AF65-F5344CB8AC3E}">
        <p14:creationId xmlns:p14="http://schemas.microsoft.com/office/powerpoint/2010/main" val="6837425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bac3b44ed47b4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C40C2-D82C-429E-8437-D457F9D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Carregamento de uma imagem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C8E1B-2A66-4821-A8EF-9DF5BF4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11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89E78-B453-4281-92C6-B5577C71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caminho parte da localização do programa.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47663-3509-4ABD-9B0C-5DD5D0FE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imagem precisa acompanhar o projeto.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F5DFE-DD16-4385-AD4E-EF42C944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403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Pygame lê o arquivo e cria uma Surface em memória.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A450B-C83A-4017-846E-B22C0A15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exemplo_retangulo.py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F757C-E662-4BD6-8174-A2A41B0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981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3B025-939B-4AC0-8BFF-5D10FEBA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29025"/>
            <a:ext cx="9429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pasta = Path(__file__).resolve().parent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grid = Texture(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pasta / 'images' / 'grade_uv.png'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04959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fd3102c5d440d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BFE00-BA37-45F1-9BD1-73631A5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Envio da imagem para a GPU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F9F4C-3862-4450-BE4E-6DCA070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12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135B1-78C3-4CC4-B7DB-A443B423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RGBA guarda os componentes vermelho, verde, azul e alpha.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BB94C-9705-4AA4-9C30-1668BEFF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conversão inverte as linhas para alinhar a imagem ao sistema UV.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4F563-AA0F-47F5-AECC-D4AEACAA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403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glTexImage2D informa dimensões, formato e dados dos texels.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6EC3B-ECDD-4A3B-8706-BE45503A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core/texture.py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BFE55-AEF5-459C-9908-93ABF340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9810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DE485-B7D0-4AF8-91DF-F91FCAB4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29025"/>
            <a:ext cx="9429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pixelData = pygame.image.tostring(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self.surface, 'RGBA', True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glBindTexture(GL_TEXTURE_2D,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      self.textureRef)</a:t>
            </a:r>
          </a:p>
        </p:txBody>
      </p:sp>
    </p:spTree>
    <p:extLst>
      <p:ext uri="{BB962C8B-B14F-4D97-AF65-F5344CB8AC3E}">
        <p14:creationId xmlns:p14="http://schemas.microsoft.com/office/powerpoint/2010/main" val="1798327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e58e43fc94eeb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31E09-621A-4CBD-B9A7-F6E5DBC8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Upload na classe Texture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6CE05-A923-478D-8146-994D30A0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13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A09AC-DC7B-475E-8FFB-9B26E9FA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textura vinculada recebe os dados da imagem.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D42AF-FF32-49CD-805C-5E80B32D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GL_UNSIGNED_BYTE usa um byte por componente de cor.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77AB6-8C24-4C68-B0F3-64F75ED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403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Os mipmaps fornecem versões menores para a minificação.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434C5-08BD-4879-845F-AF0F6C87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1429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core/texture.py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BE63B-9083-4B6F-8056-1FDFE78C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32429"/>
            <a:ext cx="9810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3A9C6-EEF2-4BF2-86E2-917FBF66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84829"/>
            <a:ext cx="9429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glTexImage2D(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GL_TEXTURE_2D, 0, GL_RGBA,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width, height, 0, GL_RGBA,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GL_UNSIGNED_BYTE, pixelData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glGenerateMipmap(GL_TEXTURE_2D)</a:t>
            </a:r>
          </a:p>
        </p:txBody>
      </p:sp>
    </p:spTree>
    <p:extLst>
      <p:ext uri="{BB962C8B-B14F-4D97-AF65-F5344CB8AC3E}">
        <p14:creationId xmlns:p14="http://schemas.microsoft.com/office/powerpoint/2010/main" val="1294209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5dea5316d4942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F62AE-1548-433C-8599-14AFBD54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Filtros e repetição da textura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115C-9647-4702-A927-8BF56974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14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0C726-64BD-453A-9455-6CADCEA5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GL_NEAREST destaca os texels ao ampliar.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25C6-E63E-4A4B-AE7F-CB9223F3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16302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GL_LINEAR interpola cores de texels próximos.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0EAA0-CBE7-425B-8C54-D60F41A7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8104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GL_LINEAR_MIPMAP_LINEAR combina níveis de mipmap ao reduzir.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712A6-5E17-45E7-AE06-ADB182EC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9906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GL_REPEAT repete a imagem para UV fora de [0,1].</a:t>
            </a:r>
          </a:p>
        </p:txBody>
      </p:sp>
    </p:spTree>
    <p:extLst>
      <p:ext uri="{BB962C8B-B14F-4D97-AF65-F5344CB8AC3E}">
        <p14:creationId xmlns:p14="http://schemas.microsoft.com/office/powerpoint/2010/main" val="7440444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b890b87fd446e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5B243-182D-4CC2-84EA-502216C3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Coordenadas UV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6BF41-C17C-4942-88AF-04F5FBA1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15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16CB6-3042-49B1-9B70-69C23A5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48101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UV indica onde consultar a imagem da textura.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49F4-31C3-4F69-96D1-D3C91DD1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7470"/>
            <a:ext cx="48101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 representa a direção horizontal. V representa a vertical.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4DDC3-3CEC-4906-A077-A089C03F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5690"/>
            <a:ext cx="48101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intervalo de 0 a 1 percorre uma imagem completa.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D7DF5-3B8A-4CA0-923A-81BA08E7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3910"/>
            <a:ext cx="48101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Cada vértice recebe uma coordenada UV associada à sua posição.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5FC13-4AA2-4005-9BE1-D9D41904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92A63-90B4-4C2C-9894-92D0D44E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05750" y="2571750"/>
            <a:ext cx="247650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A512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899AB-94E8-40C7-BA06-F4001946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526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T2 (0,1)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C1F1-FD02-40EE-8BCE-F25BA6F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T3 (1,1)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E13B6-FD61-4906-AA1A-7116FDA3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625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T0 (0,0)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DDB0E-F911-4641-BD76-A793064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625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T1 (1,0)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B39F4-38EF-4D90-9767-60F97CA5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8768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E2325-E3C0-4951-9174-121638DF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811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605386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5d564805d4c8a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DE161-649F-45A8-91C4-E7315706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Pontos de referência na imagem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F42C6-0398-45F5-8771-15D2179A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16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F0BE9-A3A9-49D5-B8E9-C0F51F27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4476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(0,0): canto inferior esquerdo.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6CB79-03BF-406F-90CC-7BCA75C4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40152"/>
            <a:ext cx="4476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(1,0): canto inferior direito.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CA8F5-E5FD-485D-9F4F-166B419C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80054"/>
            <a:ext cx="4476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(0,1): canto superior esquerdo.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E383A-44BE-42CF-B4DC-EEB732D0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9956"/>
            <a:ext cx="4476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(1,1): canto superior direito.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ca281ef40455a"/>
          <a:stretch xmlns:a="http://schemas.openxmlformats.org/drawingml/2006/main"/>
        </p:blipFill>
        <p:spPr>
          <a:xfrm xmlns:a="http://schemas.openxmlformats.org/drawingml/2006/main">
            <a:off x="7572375" y="2286000"/>
            <a:ext cx="2714625" cy="2714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D3F4D-2967-45CC-B321-304FF8DF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2714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48160-D6CA-4FD1-9A64-C39E7FA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2375" y="2286000"/>
            <a:ext cx="2714625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A512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7388-D516-4ADF-9D4D-98A68F56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T2 (0,1)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F0271-F576-486C-AB71-4426B52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669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T3 (1,1)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39673-D3AD-4687-B4CF-B6F8FDF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149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T0 (0,0)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F2C56-AE42-4B7C-B991-C8947C4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149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T1 (1,0)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D7738-4A65-4C3F-8B51-7F52A8F6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8291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02026-67CE-4BF1-8C44-4980758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4954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6181418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c653148f14940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70B59-2A50-40A1-AEBF-05087AF4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UV nos vértices do retângulo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26EA2-36BB-4B52-9876-0EF2C9E0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17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D988E-F917-4616-9DF3-DE3A8CA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retângulo usa dois triângulos e seis entradas de vértice.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943AA-AB29-49EE-856C-0F369A7B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1393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ordem das coordenadas UV acompanha a ordem das posições.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166A-386C-4737-9C37-CCC6F00C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860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geometry/rectangleGeometry.py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A8DC9-6D75-49AC-B2F3-FA38121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86125"/>
            <a:ext cx="5429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9FF61-B510-4E61-B1E0-F3A5883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4805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T0, T1 = [0,0], [1,0]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T2, T3 = [0,1], [1,1]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uvData = [T0,T1,T3,T0,T3,T2]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self.addAttribute(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'vec2', 'vertexUV', uvData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063B8-574E-416F-896B-FA6FB78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F4425-9B9F-42E0-BBBF-8A2B0CC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01000" y="3286125"/>
            <a:ext cx="238125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A512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F11AB-9ED3-48F0-B16B-79182801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670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T2 (0,1)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14B5A-84C3-4357-909A-2200509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670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T3 (1,1)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FE689-4AEE-4BDE-9D9F-DE3DED47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7816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T0 (0,0)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8699E-9ABD-4610-AC54-2280B035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7816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T1 (1,0)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920BD-CB82-4F19-AF8B-7634189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4959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CF0BA-7741-4FD3-8C20-1E8B5AE2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95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541626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6cc274114468a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7C7A2-3906-4931-AB37-5F78C93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UV entre os vértices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80EFC-7196-43A0-9E4A-6D1FE03B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18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B0069-9258-4349-AA5E-6D7F400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4857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Os vértices fornecem os valores nas extremidades de cada triângulo.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5A128-B97D-4970-AB67-B4967F79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6045"/>
            <a:ext cx="4857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rasterização interpola esses valores para os fragmentos.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8DDA4-F77C-46C3-9854-320B61F2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72840"/>
            <a:ext cx="485775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fragment shader recebe um UV para consultar a textura.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93B92-079F-46F1-A955-F18E9BCD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C5C0B-AF40-451E-824F-AA5D9595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01000" y="2667000"/>
            <a:ext cx="2333625" cy="2333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A51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1F9A4-5F87-4F39-8F98-B7CCEE8A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T2 (0,1)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4FAF6-F7C4-4C58-9DF7-459B5108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4790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T3 (1,1)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ACC84-0FEE-4375-8A23-985210D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149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T0 (0,0)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8999C-CAA4-43E6-82C6-4896D58D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1149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T1 (1,0)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9E68E-D6FB-4ADC-BEB2-3BC2F73A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291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9F454-65A1-4BDF-BAC1-422D23D7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764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FB0CB-00E8-446A-B202-98280AB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52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512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DB8FD-DDE2-4785-B70C-CEC6DC63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14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(0.5,0.5)</a:t>
            </a:r>
          </a:p>
        </p:txBody>
      </p:sp>
    </p:spTree>
    <p:extLst>
      <p:ext uri="{BB962C8B-B14F-4D97-AF65-F5344CB8AC3E}">
        <p14:creationId xmlns:p14="http://schemas.microsoft.com/office/powerpoint/2010/main" val="20139327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299b675934452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8BD5B-7293-4B69-BE99-1F10B0E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Efeitos de alterar UV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00936-6D97-47D4-B726-10552175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19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7669E-623D-42F2-A0C9-98818DB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repeatUV = [1,1] usa a imagem uma vez em cada 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52F06-8099-4F95-A170-89477DB2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2343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repeatUV = [2,2] repete a imagem duas vezes em cada direção.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6C047-66A6-4315-9A93-109DD566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88311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offsetUV desloca a região consultada na imagem.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28D76-F74D-4266-A729-3957FC6D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4279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geometria continua igual durante essas mudanças.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9731c013c45b3"/>
          <a:stretch xmlns:a="http://schemas.openxmlformats.org/drawingml/2006/main"/>
        </p:blipFill>
        <p:spPr>
          <a:xfrm xmlns:a="http://schemas.openxmlformats.org/drawingml/2006/main">
            <a:off x="2881313" y="3714750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35a85f20d4fef"/>
          <a:stretch xmlns:a="http://schemas.openxmlformats.org/drawingml/2006/main"/>
        </p:blipFill>
        <p:spPr>
          <a:xfrm xmlns:a="http://schemas.openxmlformats.org/drawingml/2006/main">
            <a:off x="7691438" y="3714750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E2343-5451-47B6-9D06-5140BA64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29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repeatUV = [1,1]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77C04-D966-45F7-9BA2-E9A91A7C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029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repeatUV = [2,2]</a:t>
            </a:r>
          </a:p>
        </p:txBody>
      </p:sp>
    </p:spTree>
    <p:extLst>
      <p:ext uri="{BB962C8B-B14F-4D97-AF65-F5344CB8AC3E}">
        <p14:creationId xmlns:p14="http://schemas.microsoft.com/office/powerpoint/2010/main" val="20283338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20d176aac4cb8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35D36-C204-4D1C-8AEF-A0F7668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Pergunta 2: interpretação de UV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A4D66-98AD-4D6C-8ED3-B025821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20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23239-5758-413F-BEB7-D051E536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62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Qual coordenada aponta para o centro da imagem?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4A1CA-E2BB-4E99-9505-EA8DA63B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95625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A) (0,0).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D8626-249D-4CBB-9311-864ED32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7719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B) (1,1).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82408-AB19-405E-B48E-D98FB355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9813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C) (0.5,0.5).</a:t>
            </a:r>
          </a:p>
        </p:txBody>
      </p:sp>
    </p:spTree>
    <p:extLst>
      <p:ext uri="{BB962C8B-B14F-4D97-AF65-F5344CB8AC3E}">
        <p14:creationId xmlns:p14="http://schemas.microsoft.com/office/powerpoint/2010/main" val="16165406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aa562605d4232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EFD20-5B64-48A2-864B-47457454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Papel dos shaders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CA5DD-97FC-40E4-9DD4-320EC84D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21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0DA6B-5856-4960-8B65-BAD94027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vertex shader calcula a posição do vértice na projeção.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C3D13-2998-4321-B815-78329DA2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1361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Ele também encaminha as coordenadas UV para a rasterização.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12956-6BDC-45DA-B6EB-737A177E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7970"/>
            <a:ext cx="98107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fragment shader consulta a textura e produz uma cor.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D6CD3-0D59-41FD-B6FE-B49E1638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D16F3-9A04-4248-A803-FC0FA203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3870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vertexUV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356E6-23C5-4B07-8E41-5B46108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66E34-BEC8-4414-8D9D-87B64EC5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38700"/>
            <a:ext cx="243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Vertex shader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00C1A-BF98-4675-AAF0-BDC5595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625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6270F-A5DD-40A5-9CC2-6479BD71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83870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Fragment shader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Cor da textura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DB021-33C9-4132-AA02-F84DD823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48125" y="5238750"/>
            <a:ext cx="809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6C626-6B95-4664-86E0-3B2133EE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24750" y="5238750"/>
            <a:ext cx="1000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45777-0B64-464A-A5DC-7091753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9531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A512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A5128"/>
                </a:solidFill>
                <a:latin typeface="Calibri"/>
                <a:ea typeface="Calibri"/>
                <a:cs typeface="Calibri"/>
              </a:rPr>
              <a:t>Interpolação</a:t>
            </a:r>
          </a:p>
        </p:txBody>
      </p:sp>
    </p:spTree>
    <p:extLst>
      <p:ext uri="{BB962C8B-B14F-4D97-AF65-F5344CB8AC3E}">
        <p14:creationId xmlns:p14="http://schemas.microsoft.com/office/powerpoint/2010/main" val="2576796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046c7a71a4b3b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4D57B-6EF7-4C3B-B225-FE932178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Vertex shader e passagem de UV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A0E73-BE6B-4BC1-AEB2-10EDFEEB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22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D8A7B-D6BF-421B-8162-C99F12B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vertexUV entra como atributo vec2.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4E198-ED97-4481-A465-58F20FE8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UV sai do vertex shader e chega interpolado ao fragment shader.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FA5FF-05C2-48D0-B6DF-5DE01300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shaders/texture.vert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E1B67-8C5A-49BB-B0AA-27C5BA89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981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0CE16-2718-4789-B8E5-322874A8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29025"/>
            <a:ext cx="9429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in vec2 vertexUV;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out vec2 UV;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Dentro de main():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UV = vertexUV * repeatUV + offsetUV;</a:t>
            </a:r>
          </a:p>
        </p:txBody>
      </p:sp>
    </p:spTree>
    <p:extLst>
      <p:ext uri="{BB962C8B-B14F-4D97-AF65-F5344CB8AC3E}">
        <p14:creationId xmlns:p14="http://schemas.microsoft.com/office/powerpoint/2010/main" val="7184229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0f20f4d394a3b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14C08-B47C-404B-8734-25C0EF98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Fragment shader e amostragem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C8591-F390-4C78-A224-FC109DE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23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A5092-E860-49CF-9C0E-7C18CB56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sampler2D indica qual unidade de textura consultar.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FAF9A-77E6-4FEC-8819-2B7DCA69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texture() amostra a imagem usando o UV do fragmento.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23FF5-60CF-434A-8775-B6BAF5A8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403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fragColor recebe a cor resultante.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86779-E7CD-4866-A543-AFE51FC4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shaders/texture.frag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7E52E-1AE8-45EF-800E-A873D7E7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9810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989FE-58E2-49BD-8156-B1ACA78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29025"/>
            <a:ext cx="9429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uniform sampler2D textureSampler;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in vec2 UV;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out vec4 fragColor;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Consulta da imagem: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vec4 color = texture(textureSampler, UV);</a:t>
            </a:r>
          </a:p>
        </p:txBody>
      </p:sp>
    </p:spTree>
    <p:extLst>
      <p:ext uri="{BB962C8B-B14F-4D97-AF65-F5344CB8AC3E}">
        <p14:creationId xmlns:p14="http://schemas.microsoft.com/office/powerpoint/2010/main" val="11766624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ba21b8a6643ea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C8D6B-A717-4B76-B45F-1C86F49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Integração entre geometria e material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4A9DB-1C8E-4F02-AAA7-C0548FF5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24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2A728-AB08-46F3-8FC3-C2F9E330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Geometry fornece vertexPosition e vertexUV.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8F7D3-51A2-4A63-8034-3D29A503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72843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TextureMaterial guarda os shaders e seus uniforms.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97C06-7FD1-4FDC-AD60-E78901B7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643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Mesh associa os atributos ao programa do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CACF7-D690-4307-BE12-C089EE90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80029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Uniform liga textureRef à unidade 1 e envia o número 1 ao sampler.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20D3F-B7E6-44B3-8798-FF7638F2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9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9E015-780E-4DB5-92AB-AE6E585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95825"/>
            <a:ext cx="24384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textureRef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B6C12-B9B7-407D-A00D-A2D40D2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08EEB-0E8A-4B2E-9893-B8D454AB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695825"/>
            <a:ext cx="2247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Unidade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35144-0D98-4334-ACB6-9A82F3A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96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19050">
            <a:solidFill>
              <a:srgbClr val="1732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A3129-A29E-4FEA-AAB3-42703B9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95825"/>
            <a:ext cx="2343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sampler2D</a:t>
            </a:r>
          </a:p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valor: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0D15E-D6D9-4B4A-BFA7-86954D7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57750" y="5114925"/>
            <a:ext cx="714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A7470-4494-469F-868A-E275C990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48625" y="5114925"/>
            <a:ext cx="7143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24D"/>
            </a:solidFill>
          </a:ln>
        </p:spPr>
      </p:sp>
    </p:spTree>
    <p:extLst>
      <p:ext uri="{BB962C8B-B14F-4D97-AF65-F5344CB8AC3E}">
        <p14:creationId xmlns:p14="http://schemas.microsoft.com/office/powerpoint/2010/main" val="17580697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e84bca4e74100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A3B3F-B79F-4356-8655-5274EF77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Pergunta 3: consulta da textura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C9911-8DAE-4BB5-A376-C91FC1C4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25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5864C-7D0A-46D0-8FCA-14B799A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62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Qual etapa consulta a imagem usando as coordenadas UV interpoladas?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6A8D9-97D2-4682-9CEB-8E59DB8F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95625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A) A abertura da janela pelo Pygame.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AF357-15B2-4DB3-B8D5-09EF0923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7719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B) O fragment shader.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B602C-46D0-4DE8-A52E-B566E461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9813"/>
            <a:ext cx="9048750" cy="44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C) O cálculo da posição da câmera.</a:t>
            </a:r>
          </a:p>
        </p:txBody>
      </p:sp>
    </p:spTree>
    <p:extLst>
      <p:ext uri="{BB962C8B-B14F-4D97-AF65-F5344CB8AC3E}">
        <p14:creationId xmlns:p14="http://schemas.microsoft.com/office/powerpoint/2010/main" val="15241164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8d5ce7e444665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9A80B-5948-45AF-A6B5-E3EACE13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Exemplo 1: retângulo texturizado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96F30-496B-4B18-896C-919AE107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26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E326-DF2F-4C90-90F6-F8F7915B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Uma imagem local cobre o retângulo completo.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B9D57-183D-4A6F-BE7E-87016089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3177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A1 fica na região inferior esquerda e D4 na superior direita.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414F9-8633-4181-8583-69DDD5D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4904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Dois triângulos formam uma superfície visualmente contínua.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f961f141b45b9"/>
          <a:stretch xmlns:a="http://schemas.openxmlformats.org/drawingml/2006/main"/>
        </p:blipFill>
        <p:spPr>
          <a:xfrm xmlns:a="http://schemas.openxmlformats.org/drawingml/2006/main">
            <a:off x="7286625" y="1809750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186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2de013213467c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E6D4A-70ED-449D-8A88-AD3D8B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Exemplo 1: construção da Mesh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15F90-A66C-43CF-B443-4176478C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27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C87FF-5918-43B6-997E-2E8C605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geometria define a superfície. A textura fornece a imagem.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6516E-5788-4B8A-8A5E-9FB8BF25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material permite que os shaders consultem essa imagem.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6EAFE-43CA-46CE-B12D-67A6E2A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exemplo_retangulo.py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D9692-F3EE-4EFA-A91A-256D3600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98107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BB9A8-F3AC-4B8D-8E9C-5AE46FB6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05150"/>
            <a:ext cx="94297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geometry = RectangleGeometry(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width=2, height=2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grid = Texture(caminho)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material = TextureMaterial(grid)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self.mesh = Mesh(geometry, material)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self.scene.add(self.mesh)</a:t>
            </a:r>
          </a:p>
        </p:txBody>
      </p:sp>
    </p:spTree>
    <p:extLst>
      <p:ext uri="{BB962C8B-B14F-4D97-AF65-F5344CB8AC3E}">
        <p14:creationId xmlns:p14="http://schemas.microsoft.com/office/powerpoint/2010/main" val="7055965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3182d629c40dd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F45E1-667C-4B63-A108-6B8F36C6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Exemplo 1: execução e observação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06E6F-8DE2-4A9E-9D64-AB484A15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28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4A741-6126-4091-AC55-4D921402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810750" cy="813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 ambiente Python preparado:</a:t>
            </a:r>
          </a:p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python exemplo_retangulo.py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C19F6-5918-4C54-BE69-8C28CCE5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94254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Confira orientação, proporção e continuidade da imagem.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C891F-12E2-4005-9F2B-9AA07934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6056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Pressione S para salvar uma captura. ESC encerra a janela.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62737-BA84-4FA3-A4DB-5EA45BD4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7858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programa usa as classes e imagens incluídas na pasta alunos.</a:t>
            </a:r>
          </a:p>
        </p:txBody>
      </p:sp>
    </p:spTree>
    <p:extLst>
      <p:ext uri="{BB962C8B-B14F-4D97-AF65-F5344CB8AC3E}">
        <p14:creationId xmlns:p14="http://schemas.microsoft.com/office/powerpoint/2010/main" val="14456815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b2b84ae8e4051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51CC2-BDF1-4D34-9DD2-F269267C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Exemplo 2: textura nas faces do cubo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B16C5-3A2D-4A50-9299-C41B4051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29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8B46B-0FD9-4788-8AB8-B67CF2B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BoxGeometry contém seis faces, cada uma com dois triângulos.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BA9E1-728D-40FE-A26A-289AB7B9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3177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Cada face recebe o padrão UV completo.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E90D8-B43A-4256-A886-FEC27827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49040"/>
            <a:ext cx="5000625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O exemplo usa a mesma imagem nas seis faces.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99698c4ee4253"/>
          <a:stretch xmlns:a="http://schemas.openxmlformats.org/drawingml/2006/main"/>
        </p:blipFill>
        <p:spPr>
          <a:xfrm xmlns:a="http://schemas.openxmlformats.org/drawingml/2006/main">
            <a:off x="7255119" y="1809750"/>
            <a:ext cx="4158762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302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6c05fc75c4804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90319-36B3-42DA-B821-A9C0F071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Exemplo 2: construção do cubo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234C1-E97A-480C-B0AF-31093F2A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30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6B0C5-6F00-4EB7-81BE-4F5D1B8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TextureMaterial permanece igual ao exemplo anterior.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AF3E2-2E75-4558-A1EF-3667B48B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nova geometria fornece posições e UV para as seis 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8AD4C-89D8-4DF8-B392-1E65C1A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exemplo_cubo.py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5A047-8028-45CA-9F52-F0F5EBF7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9810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33BAC-A24F-42E4-A5C3-F8D50F1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95650"/>
            <a:ext cx="9429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geometry = BoxGeometry()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grid = Texture(caminho)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material = TextureMaterial(grid)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self.mesh = Mesh(geometry, material)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self.mesh.rotateX(0.35)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self.mesh.rotateY(0.5)</a:t>
            </a:r>
          </a:p>
        </p:txBody>
      </p:sp>
    </p:spTree>
    <p:extLst>
      <p:ext uri="{BB962C8B-B14F-4D97-AF65-F5344CB8AC3E}">
        <p14:creationId xmlns:p14="http://schemas.microsoft.com/office/powerpoint/2010/main" val="2471612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4a1a5b27b463a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B6D5D-222C-4060-BD29-AC6F4E0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Exemplo 2: rotação do cubo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1B2ED-835E-44A6-8692-0CBFD562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31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9DC2A-B7A1-404F-9827-B302298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velocidade usa radianos por segundo.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A0D27-FB7D-4489-B3C7-3D0A0B83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9018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deltaTime informa o tempo decorrido entre quadros.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553F0-70B8-4638-88FE-11C4291A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4036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textura acompanha a face enquanto a Mesh gira.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E72B9-A9DB-4007-9EFA-C9F37EA8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1429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exemplo_cubo.py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CA80B-44A4-4A90-AD44-AC896ABF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32429"/>
            <a:ext cx="9810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72AC5-E2BD-4118-B09C-AA5359E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84829"/>
            <a:ext cx="9429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VELOCIDADE = 0.8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EIXO = 'Y'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# Em update(), quando EIXO == 'Y':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angle = VELOCIDADE * self.deltaTime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self.mesh.rotateY(angle)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self.renderer.render(self.scene, self.camera)</a:t>
            </a:r>
          </a:p>
        </p:txBody>
      </p:sp>
    </p:spTree>
    <p:extLst>
      <p:ext uri="{BB962C8B-B14F-4D97-AF65-F5344CB8AC3E}">
        <p14:creationId xmlns:p14="http://schemas.microsoft.com/office/powerpoint/2010/main" val="7547832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96cc781314aef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55CFA-FB84-4919-94A9-7164C714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Erros comuns no uso de texturas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A6C3F-C6D7-4DB5-9AD0-0152406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32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344EC-068B-44EE-9776-42C28466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Arquivo ausente: confira o caminho e o nome da imagem.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9CBEA-5F14-40ED-8672-522FBB1A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16302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Imagem invertida: revise a conversão vertical dos dados.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22DF4-CDBE-47A0-A138-726A166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8104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Imagem distorcida: confira a ordem de vertexUV e vertexPosition.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DB095-D31B-40BA-A3B0-8FAD42DD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9906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Textura branca ou preta: confira o sampler e a unidade de textura.</a:t>
            </a:r>
          </a:p>
        </p:txBody>
      </p:sp>
    </p:spTree>
    <p:extLst>
      <p:ext uri="{BB962C8B-B14F-4D97-AF65-F5344CB8AC3E}">
        <p14:creationId xmlns:p14="http://schemas.microsoft.com/office/powerpoint/2010/main" val="10814138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20b3e18d548ae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77117-2685-40A8-8059-9B913DFE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Síntese e referência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52443-4D9B-459F-8EB7-DEBC53FA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33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F4C55-6986-4221-858D-D447874C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810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 carrega e envia a imagem. UV associa pontos da imagem aos vértices.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9848E-1FD3-4744-9AB1-8BFCFCB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91918"/>
            <a:ext cx="9810750" cy="76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TextureMaterial conecta shaders e uniforms. Mesh reúne geometria e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0A7B7-0376-4351-97CC-71C98DD8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2904"/>
            <a:ext cx="9810750" cy="1117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STEMKOSKI, Lee; PASCALE, Michael. Developing graphics frameworks with Python and OpenGL. Boca Raton: CRC Press, 2022. Seções 5.1 a 5.4. DOI: 10.1201/9781003181378.</a:t>
            </a:r>
          </a:p>
        </p:txBody>
      </p:sp>
    </p:spTree>
    <p:extLst>
      <p:ext uri="{BB962C8B-B14F-4D97-AF65-F5344CB8AC3E}">
        <p14:creationId xmlns:p14="http://schemas.microsoft.com/office/powerpoint/2010/main" val="8455328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1b8f2a7354380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C4FA6-7D17-4251-90B7-929BDC2F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Exercício em dupla: cubo com satélite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67534-930B-4841-AB44-ABA1FD86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34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E5B5A-FBC6-4AE1-96B4-17896E6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Parta de atividade_cubo.py e use mosaico.png no cubo principal.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253AB-0935-4BF7-91AC-2CFA73E9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16302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Crie um satélite com grade_uv.png repetida 2x2 (repeatUV = [2,2]).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0301E-4CA3-432D-807B-02FB56D5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8104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Satélite filho do cubo: a 1.3 do centro, escala 0.4, girando no próprio eixo 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9E9CE-EEA0-4EB6-8C52-69803FB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9906"/>
            <a:ext cx="9810750" cy="813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As setas ↑ e ↓ mudam a velocidade de rotação do cubo principal.</a:t>
            </a:r>
          </a:p>
        </p:txBody>
      </p:sp>
    </p:spTree>
    <p:extLst>
      <p:ext uri="{BB962C8B-B14F-4D97-AF65-F5344CB8AC3E}">
        <p14:creationId xmlns:p14="http://schemas.microsoft.com/office/powerpoint/2010/main" val="765977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c92fde0f84fa8"/>
          <a:stretch xmlns:a="http://schemas.openxmlformats.org/drawingml/2006/main"/>
        </p:blipFill>
        <p:spPr>
          <a:xfrm xmlns:a="http://schemas.openxmlformats.org/drawingml/2006/main">
            <a:off x="78355" y="0"/>
            <a:ext cx="120352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904AB-7BAA-4D84-A5BE-6DB7BA67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Entrega e critérios da atividade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BA43A-D57C-4D22-ADFB-93990D4F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273"/>
                </a:solidFill>
                <a:latin typeface="Calibri"/>
                <a:ea typeface="Calibri"/>
                <a:cs typeface="Calibri"/>
              </a:rPr>
              <a:t>35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2B490-EAAA-49AF-8F4A-A4107ED6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9810750" cy="813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Entrega: código, captura (tecla S) e identificação dos dois integrantes.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71C96-F488-44E4-ACC7-94F6873F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94254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Explique em um parágrafo o papel do UV e o efeito de repeatUV = [2,2].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F3516-2222-4B0B-B063-041CC86A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6056"/>
            <a:ext cx="9810750" cy="813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Critérios: textura 2, satélite 2, hierarquia 2, teclado 1, giro 1, texto 1, entrega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65DAC-3075-4CCB-8B4D-B96FCA2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5810"/>
            <a:ext cx="9810750" cy="435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Tempo total da atividade: 20 minutos.</a:t>
            </a:r>
          </a:p>
        </p:txBody>
      </p:sp>
    </p:spTree>
    <p:extLst>
      <p:ext uri="{BB962C8B-B14F-4D97-AF65-F5344CB8AC3E}">
        <p14:creationId xmlns:p14="http://schemas.microsoft.com/office/powerpoint/2010/main" val="510139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2026-10-05T18:24:59.5670000Z</dcterms:created>
  <dcterms:modified xsi:type="dcterms:W3CDTF">2026-10-05T18:24:59.5670000Z</dcterms:modified>
</coreProperties>
</file>