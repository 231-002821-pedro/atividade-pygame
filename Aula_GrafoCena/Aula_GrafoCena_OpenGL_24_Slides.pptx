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89d0fea-8951-6ba4-2ac3-ed9c3d7affd8}">
          <p14:sldIdLst>
            <p14:sldId id="256"/>
            <p14:sldId id="257"/>
            <p14:sldId id="258"/>
          </p14:sldIdLst>
        </p14:section>
        <p14:section name="Object3D" id="{4616b535-12ad-07f1-3737-5707bcb73dcc}">
          <p14:sldIdLst>
            <p14:sldId id="259"/>
            <p14:sldId id="260"/>
            <p14:sldId id="261"/>
            <p14:sldId id="262"/>
            <p14:sldId id="263"/>
          </p14:sldIdLst>
        </p14:section>
        <p14:section name="Mesh e Renderer" id="{04a699dc-bbe4-e35b-579f-b944ec85df65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Hierarquia e câmera" id="{7192aaec-e5bb-b931-61d0-478f12f5451b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Fechamento" id="{cac69849-233e-f5e5-135f-64299f9900ea}">
          <p14:sldIdLst>
            <p14:sldId id="276"/>
            <p14:sldId id="277"/>
          </p14:sldIdLst>
        </p14:section>
        <p14:section name="Atividade" id="{35a36f53-a620-01ad-1f63-9df15c42e740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Esta aula fica entre Transformações e Texturas. Mostre a imagem: no fim da aula cada dupla monta este braço robótico, que se dobra pelas articulações com o teclado.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(2 min). Leia os quatro objetivos. A aula alterna conceito e demonstração e termina com 25 minutos de atividade em dupla. O framework desta aula é o mesmo que a turma vai usar na aula de Texturas.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 (3 min). Na atividade de Transformações a lua precisou repetir a matriz da órbita do planeta e cada objeto pedia o próprio upload e draw. Com dez objetos isso vira um emaranhado. O grafo de cena guarda a matriz local de cada objeto e calcula sozinho a matriz do mundo, multiplicando pelos pais.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Grafo de cena (3 min). Cada nó tem uma matriz local, um pai e uma lista de filhos. A raiz é a Scene. Mostre que alguns nós são visíveis (Mesh) e outros não (Object3D vazio, usado como pivô ou grupo). Pergunte: se eu girar o 'Carro', o que acontece com as rodas?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Object3D (3 min). Abra core/object3D.py. São três atributos: transform, parent e children. add() liga pai e filho nos dois sentidos. Os métodos translate, rotateX/Y/Z e scale chamam applyMatrix, que multiplica à direita (local) por padrão. É exatamente a regra global/local da aula de Transformações.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getWorldMatrix (3 min). A matriz do mundo é a do pai (já no mundo) vezes a local. A recursão sobe até a raiz. Para a lua: Scene @ órbitaPlaneta @ órbitaLua @ lua. É o mesmo produto que a turma escreveu à mão na aula anterior, só que agora o framework monta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Posicionar (3 min). setPosition troca só a última coluna da matriz local, sem mexer na rotação. translate é local: depois de girar, anda na direção nova. Destaque o caso da escala: scale antes de translate faz a translação também ser escalada. É um erro comum na atividade de Texturas.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1 (2 min). Correta: C. Mundo do filho = mundo do pai @ local, o que dá (1, 0, 0) + (0, 2, 0). A alternativa A é quem esquece o pai. Pergunte: e se o pai girar 90° em Z? O filho vai para (-1, 0, 0), porque o (0, 2, 0) local é girado.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Mesh (3 min). A Mesh é um Object3D visível: tem posição na árvore e ainda junta a geometria (o QUE desenhar) com o material (COMO desenhar). No construtor, ela cria um VAO que liga cada atributo da geometria à variável de mesmo nome no shader do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Geometry (3 min). A geometria é um dicionário de atributos, cada um um Attribute com buffer na GPU. O nome da chave precisa ser igual ao 'in' do vertex shader. BoxGeometry tem 6 faces x 2 triângulos = 36 vértices e uma cor por face. Os parâmetros width, height e depth permitem caixas compridas, como o braço da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(3 min). O Material compila o programa e guarda um dicionário de uniforms. As três matrizes (model, view, projection) já nascem no Material e são preenchidas pelo Renderer. BasicMaterial acrescenta baseColor e useVertexColors. setProperties muda qualquer uniform pelo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Renderer (3 min). Um único método percorre a árvore e, para cada Mesh, usa o programa e o VAO, preenche as três matrizes, envia os uniforms e desenha. Note a câmera: o Renderer atualiza a viewMatrix dela antes. Compare com o loop manual da aula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(3 min). Execute demo1_cena.py e abra o código: são poucas linhas para montar Renderer, Scene, Camera e Mesh. Em update(), só duas rotações locais e uma chamada de render. Pergunte: onde está a matriz de projeção? Resposta: dentro da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2 (2 min). Correta: A. A Geometry guarda os atributos (posições e cores). O Material guarda shaders e uniforms; o Renderer só percorre e desenha; a Scene é a raiz da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Hierarquia (4 min). Compare com o slide 3. Cada objeto guarda só o próprio movimento. A órbita do planeta é um Object3D vazio no centro: girá-lo leva o planeta. A órbita da lua fica na posição do planeta, como filha da órbita do planeta, para não herdar a rotação própria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Pivôs (4 min). Toda rotação acontece em torno da origem LOCAL do objeto. Uma caixa é criada centrada, então gira pelo meio. Para girar pela ponta, criamos um Object3D vazio na articulação e penduramos a caixa nele, deslocada metade do comprimento. É a chave da atividade do braço robótico.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(3 min). Execute demo2_hierarquia.py. ESPAÇO pausa. Mostre o código: o update tem apenas quatro rotações locais. Peça para a turma prever o que acontece se a orbitaLua for filha do planeta em vez da orbitaPlaneta (a lua passa a girar na velocidade da rotação própria do planeta). Se der tempo, faça a troca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Câmera (3 min). A Camera herda de Object3D, então tem posição, rotação e até pai. A viewMatrix é a inversa da matriz do mundo da câmera: andar com a câmera para a direita equivale a deslizar a cena para a esquerda. O 'rig' é um Object3D que gira na horizontal; a câmera filha inclina para cima e para baixo sem entortar o horizonte.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 (4 min). Execute demo3_camera.py. Vire com Q e ande com W: o movimento é local ao rig, então a câmera anda para onde está olhando. Incline com as setas e mostre que W continua andando na horizontal, porque a inclinação está na câmera filha e não no rig.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3 (2 min). Correta: B. A viewMatrix é a inversa da matriz da câmera: mover a câmera para +x equivale a mover a cena para -x. Confirme com a tecla D na demo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 (3 min). Passe pelos seis. Na atividade, peça para a turma consultar este slide antes de chamar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(2 min). Leia os quatro cartões. Avise que a próxima aula, de Texturas, usa exatamente este framework, trocando BasicMaterial por TextureMaterial.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(2 min de orientação). Mostre atividade_braco.py: chão e base prontos, a função caixa() e os TODOs. Dica principal: um Object3D em cada articulação, com a caixa deslocada metade do comprimento. Circule pela sala nos 20 minutos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(3 min ao final). Tempo total: 25 minutos, sendo 2 de orientação, 20 de desenvolvimento e 3 para a entrega. A captura com o braço dobrado é salva com a tecla P. A rubrica detalhada está em professor/RUBRICA.md.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EB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Grafo de Cena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Python e OpenGL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EB"/>
                </a:solidFill>
              </a:rPr>
              <a:t>Object3D, Mesh, Camera e Renderer: organizando a cena em árvore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EB"/>
                </a:solidFill>
              </a:rPr>
              <a:t>Prof. Rodrigo Fernandes dos Santos · Computação Gráfica · Unipac Barbacena</a:t>
            </a:r>
            <a:endParaRPr lang="en-US" sz="1400" dirty="0"/>
          </a:p>
        </p:txBody>
      </p:sp>
      <p:pic>
        <p:nvPicPr>
          <p:cNvPr id="5" name="Image 0" descr="/private/tmp/claude-501/-Users-rodrigosantos-PycharmProjects-pygame/4508a808-1871-47ba-8789-6261a524b220/scratchpad/gc/sol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63040"/>
            <a:ext cx="438912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B"/>
                </a:solidFill>
              </a:rPr>
              <a:t>Meta da aula: um braço robótico articulado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Objetivos e percurso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087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Organizar objetos em uma árvore (grafo de cena)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331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Calcular a matriz do mundo a partir dos pais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54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Separar Geometry, Material, Mesh e Renderer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977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Usar pivôs e mover a câmera como um objeto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90 minutos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3643274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534924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Conceitos · 30 min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46778" y="5349240"/>
            <a:ext cx="4259631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83938" y="5349240"/>
            <a:ext cx="4040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Demonstrações · 35 min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561273" y="5349240"/>
            <a:ext cx="302691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98433" y="5349240"/>
            <a:ext cx="28074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Atividade · 25 min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778240" y="141732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778240" y="14721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Scene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772400" y="269748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0" y="2752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Mesh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784080" y="269748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784080" y="2752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Object3D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9784080" y="3931920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784080" y="39867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Mesh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 flipH="1">
            <a:off x="8595360" y="2240280"/>
            <a:ext cx="1005840" cy="45720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01200" y="2240280"/>
            <a:ext cx="1005840" cy="45720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607040" y="3520440"/>
            <a:ext cx="914" cy="4114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paramos: matrizes à mão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atividade_sistema_solar.py (aula anterior)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6400800" cy="2377440"/>
          </a:xfrm>
          <a:prstGeom prst="roundRect">
            <a:avLst>
              <a:gd name="adj" fmla="val 4615"/>
            </a:avLst>
          </a:prstGeom>
          <a:solidFill>
            <a:srgbClr val="0F223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9202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 = Rz(anguloOrbita) @ T(0.6, 0,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matrizPlaneta = orbita @ Rz(rot) @ S(0.1)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matrizLua = orbita @ Rz(anguloLua)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@ T(0.2, 0, 0) @ S(0.05)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objeto, matriz in [...]: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modelMatrix.data = matriz; ...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223760" y="1371600"/>
            <a:ext cx="44165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Problemas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05740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lua repete a matriz do planeta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objeto: upload e draw à mão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Difícil de crescer: e com 50 objetos?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FE9E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434840"/>
            <a:ext cx="10454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Ideia da aula: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cada objeto guarda só a sua matriz LOCAL e conhece o seu pai. O framework calcula a matriz do mundo e desenha a árvore inteira com uma chamada: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renderer.render(scene, camera)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Grafo de cena: uma árvore de objetos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017520" y="141732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01752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Scene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856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raiz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9352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Camera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Object3D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17520" y="288036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17520" y="29352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Carro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Mesh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288036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0" y="29352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Árvore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Mesh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737360" y="438912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37360" y="44439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Roda 1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828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Mesh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97680" y="438912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297680" y="44439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Roda 2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4828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Mesh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H="1">
            <a:off x="1600200" y="2240280"/>
            <a:ext cx="2468880" cy="6400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69080" y="2240280"/>
            <a:ext cx="914" cy="6400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2240280"/>
            <a:ext cx="2468880" cy="6400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2788920" y="3703320"/>
            <a:ext cx="1280160" cy="68580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69080" y="3703320"/>
            <a:ext cx="1280160" cy="68580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38160" y="1417320"/>
            <a:ext cx="3504895" cy="4480560"/>
          </a:xfrm>
          <a:prstGeom prst="roundRect">
            <a:avLst>
              <a:gd name="adj" fmla="val 3131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12480" y="1645920"/>
            <a:ext cx="2956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Nó: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matriz local + pai + filhos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Raiz: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Scene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Mover o pai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move todos os descendentes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Nós invisíveis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(Object3D) agrupam ou servem de pivô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classe Object3D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Object3D: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self.transform = Matrix.makeIdentity()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self.parent = None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self.children = []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add(self, child):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self.children.append(child)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child.parent = self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applyMatrix(self, matrix, localCoord=True):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localCoord: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self.transform = self.transform @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self.transform = matrix @ self.transform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141732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55448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01168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matriz LOCAL 4x4, relativa ao pai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297180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10896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add(filho)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56616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liga pai e filho nos dois sentidos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8080" y="452628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466344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rotateX / translate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512064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atalhos para applyMatrix (e scale, rotateY...); locais por padrão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Matriz do mundo: multiplicando pelos pais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400800" cy="1920240"/>
          </a:xfrm>
          <a:prstGeom prst="roundRect">
            <a:avLst>
              <a:gd name="adj" fmla="val 5714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getWorldMatrix(self):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self.parent is None: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self.transform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 = self.parent.getWorldMatrix()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pai @ self.transform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640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Exemplo: a lua do sistema solar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mundoLua = cena @ orbitaPlaneta @ orbitaLua @ lua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46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fator é a matriz local de um nó do caminho até a raiz.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2918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63840" y="14721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Scene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509760" y="2240280"/>
            <a:ext cx="0" cy="32004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0" y="2560320"/>
            <a:ext cx="32918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0" y="26151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orbitaPlaneta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509760" y="3383280"/>
            <a:ext cx="0" cy="32004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0" y="3703320"/>
            <a:ext cx="32918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0" y="37581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orbitaLua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509760" y="4526280"/>
            <a:ext cx="0" cy="32004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0" y="4846320"/>
            <a:ext cx="32918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63840" y="49011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lua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↑ sobe até a raiz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setPosition, translate e a ordem local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6432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setPosition([x, y, z])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Troca só a posição (última coluna). A rotação e a escala ficam como estão.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154680"/>
            <a:ext cx="4815688" cy="1097280"/>
          </a:xfrm>
          <a:prstGeom prst="roundRect">
            <a:avLst>
              <a:gd name="adj" fmla="val 10000"/>
            </a:avLst>
          </a:prstGeom>
          <a:solidFill>
            <a:srgbClr val="0F22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3337560"/>
            <a:ext cx="4358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obj.setPosition([0, 0.6, 0])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1417320"/>
            <a:ext cx="536432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53048" y="16002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translate(x, y, z)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553048" y="210312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Multiplica à direita: anda nos eixos do PRÓPRIO objeto, já girados e escalados.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53048" y="3154680"/>
            <a:ext cx="4815688" cy="1097280"/>
          </a:xfrm>
          <a:prstGeom prst="roundRect">
            <a:avLst>
              <a:gd name="adj" fmla="val 10000"/>
            </a:avLst>
          </a:prstGeom>
          <a:solidFill>
            <a:srgbClr val="0F223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81648" y="3337560"/>
            <a:ext cx="4358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obj.rotateZ(pi /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obj.translate(1, 0, 0)  # vai para +y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FFE9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80060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Cuidado: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scale(0.4) seguido de translate(1, 0, 0) desloca só 0.4. Posicione primeiro e escale depois.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1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 pai está em (1, 0, 0), sem rotação. O filho tem posição local (0, 2, 0). Onde está o filho no mundo?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(0, 2, 0)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(1, 0, 0)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(1, 2, 0)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(0, 0, 0)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Mesh = Geometry + Material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Geometry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vértices: vertexPosition, vertexColor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48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34840" y="160020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Material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1945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shaders + uniforms + settings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1463040"/>
            <a:ext cx="3319272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21040" y="160020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Mesh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1945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Object3D + VAO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867912" y="17830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+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754112" y="17830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=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11094415" cy="2697480"/>
          </a:xfrm>
          <a:prstGeom prst="roundRect">
            <a:avLst>
              <a:gd name="adj" fmla="val 4068"/>
            </a:avLst>
          </a:prstGeom>
          <a:solidFill>
            <a:srgbClr val="0F22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383280"/>
            <a:ext cx="106372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Mesh(Object3D):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geometry, material):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self.geometry, self.material = geometry, material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self.vaoRef = glGenVertexArrays(1)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glBindVertexArray(self.vaoRef)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name, attribute in geometry.attributes.items():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attribute.associateVariable(material.programRef, name)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Geometry: os vértices do objeto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583680" cy="2743200"/>
          </a:xfrm>
          <a:prstGeom prst="roundRect">
            <a:avLst>
              <a:gd name="adj" fmla="val 4000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Geometry: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self.attributes = {}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self.vertexCount = 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addAttribute(self, dataType, name, data):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self.attributes[name] = Attribute(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dataType, data)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6583680" cy="1508760"/>
          </a:xfrm>
          <a:prstGeom prst="roundRect">
            <a:avLst>
              <a:gd name="adj" fmla="val 7273"/>
            </a:avLst>
          </a:prstGeom>
          <a:solidFill>
            <a:srgbClr val="0F22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57200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 = BoxGeometry(width=0.3, height=1.2, depth=0.3)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36 vértices: 6 faces x 2 triângulos x 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1417320"/>
            <a:ext cx="4236415" cy="448056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0020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BoxGeometry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4884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Centrada na origem local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vertexPosition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: 36 posições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vertexColor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: uma cor por face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Nome da chave = nome do 'in' no shader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Material: shaders e uniforms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mat4 projectionMatrix;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mat4 viewMatrix;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mat4 modelMatrix;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gl_Position = projectionMatrix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viewMatrix * modelMatrix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vec4(vertexPosition, 1.0);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5669280" cy="2331720"/>
          </a:xfrm>
          <a:prstGeom prst="roundRect">
            <a:avLst>
              <a:gd name="adj" fmla="val 4706"/>
            </a:avLst>
          </a:prstGeom>
          <a:solidFill>
            <a:srgbClr val="0F22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74904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= BasicMaterial({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'baseColor': [0.25, 0.5, 0.95],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'useVertexColors': True,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dicionário: nome -&gt; Uniform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material.uniforms['baseColor'].data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1417320"/>
            <a:ext cx="515081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55448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programRef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011680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programa de shaders compilado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92240" y="2971800"/>
            <a:ext cx="515081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10896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566160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dicionário nome → Uniform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92240" y="4526280"/>
            <a:ext cx="515081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466344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/ view / projection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120640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preenchidas pelo Renderer a cada quadro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Renderer: desenhando a árvore inteira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7315200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85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render(self, scene, camera):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glClear(GL_COLOR_BUFFER_BIT | GL_DEPTH_BUFFER_BIT)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camera.updateViewMatrix()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mesh in scene.getDescendantList():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isinstance(mesh, Mesh):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 = mesh.material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glUseProgram(mat.programRef)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glBindVertexArray(mesh.vaoRef)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mat.uniforms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u['modelMatrix'].data = mesh.getWorldMatrix()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u['viewMatrix'].data = camera.viewMatrix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u['projectionMatrix'].data = camera.projectionMatrix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uniform in u.values():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uniform.uploadData()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glDrawArrays(GL_TRIANGLES, 0, mesh.geometry.vertexCount)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3816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554480"/>
            <a:ext cx="2819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Percorre a árvore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38160" y="2606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38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2606040"/>
            <a:ext cx="2819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Ignora nós invisíveis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138160" y="3657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3657600"/>
            <a:ext cx="2819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Calcula a matriz do mundo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138160" y="4709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381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709160"/>
            <a:ext cx="2819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Envia uniforms e desenha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1: a receita de uma cena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760720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self.renderer = Renderer()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self.scene = Scene()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self.camera = Camera(aspectRatio=960 / 640)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self.camera.setPosition([0, 0, 3])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 = BoxGeometry()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= BasicMaterial(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{'useVertexColors': True})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self.mesh = Mesh(geometry, material)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self.scene.add(self.mesh)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self.mesh.rotateY(0.9 * self.deltaTime)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self.renderer.render(self.scene, self.camera)</a:t>
            </a:r>
            <a:endParaRPr lang="en-US" sz="1400" dirty="0"/>
          </a:p>
        </p:txBody>
      </p:sp>
      <p:pic>
        <p:nvPicPr>
          <p:cNvPr id="6" name="Image 0" descr="/private/tmp/claude-501/-Users-rodrigosantos-PycharmProjects-pygame/4508a808-1871-47ba-8789-6261a524b220/scratchpad/gc/dem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7320"/>
            <a:ext cx="5056632" cy="3371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0" y="4879848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demo1_cena.py: faces coloridas por eixo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2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Qual classe guarda as POSIÇÕES dos vértices de um objeto?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Geometry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Material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Renderer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Scene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sistema solar com hierarquia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309360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orbitaPlaneta = Object3D()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scene.add(orbitaPlaneta)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planeta = caixa(0.5, 0.5, 0.5, AZUL)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planeta.setPosition([2.6, 0, 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orbitaPlaneta.add(planeta)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orbitaLua = Object3D()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orbitaLua.setPosition([2.6, 0, 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orbitaPlaneta.add(orbitaLua)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lua.setPosition([0.7, 0, 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orbitaLua.add(lua)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update(): só rotações locais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orbitaPlaneta.rotateY(0.6 * dt)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planeta.rotateY(2.5 * dt)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0" y="141732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4721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Scene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86600" y="26609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044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gira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537192" y="2606040"/>
            <a:ext cx="21031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537192" y="26609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orbitaPlaneta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537192" y="3044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pivô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21040" y="3794760"/>
            <a:ext cx="182880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21040" y="38496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planeta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0241280" y="3794760"/>
            <a:ext cx="1399032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41280" y="384962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orbitaLua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241280" y="4983480"/>
            <a:ext cx="13990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0" y="503834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lua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 flipH="1">
            <a:off x="8138160" y="2240280"/>
            <a:ext cx="1280160" cy="36576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18320" y="2240280"/>
            <a:ext cx="1170432" cy="36576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9235440" y="3429000"/>
            <a:ext cx="1353312" cy="36576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588752" y="3429000"/>
            <a:ext cx="356616" cy="36576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945368" y="4617720"/>
            <a:ext cx="914" cy="36576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Pivôs: girar pela articulação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Sem pivô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caixa gira pelo CENTRO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 rot="2100000">
            <a:off x="2743200" y="2651760"/>
            <a:ext cx="457200" cy="2011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2880360" y="3566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4892040"/>
            <a:ext cx="4815688" cy="777240"/>
          </a:xfrm>
          <a:prstGeom prst="roundRect">
            <a:avLst>
              <a:gd name="adj" fmla="val 14118"/>
            </a:avLst>
          </a:prstGeom>
          <a:solidFill>
            <a:srgbClr val="0F22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507492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braco.rotateZ(a)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78728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53048" y="15544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Com pivô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53048" y="1965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Object3D vazio na articulação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rot="2100000">
            <a:off x="8866480" y="2468880"/>
            <a:ext cx="457200" cy="2011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2"/>
          <p:cNvSpPr/>
          <p:nvPr/>
        </p:nvSpPr>
        <p:spPr>
          <a:xfrm>
            <a:off x="8381848" y="416052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30288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ombro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3048" y="4709160"/>
            <a:ext cx="4815688" cy="1005840"/>
          </a:xfrm>
          <a:prstGeom prst="roundRect">
            <a:avLst>
              <a:gd name="adj" fmla="val 10909"/>
            </a:avLst>
          </a:prstGeom>
          <a:solidFill>
            <a:srgbClr val="0F223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81648" y="4892040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ombro.add(braco)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braco.setPosition([0, 0.6, 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ombro.rotateZ(a)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2: hierarquia em movimento</a:t>
            </a:r>
            <a:endParaRPr lang="en-US" sz="3200" dirty="0"/>
          </a:p>
        </p:txBody>
      </p:sp>
      <p:pic>
        <p:nvPicPr>
          <p:cNvPr id="4" name="Image 0" descr="/private/tmp/claude-501/-Users-rodrigosantos-PycharmProjects-pygame/4508a808-1871-47ba-8789-6261a524b220/scratchpad/gc/dem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715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demo2_hierarquia.py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7178040" y="1517904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78040" y="1517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ESPAÇO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1463040"/>
            <a:ext cx="2956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pausa e retoma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178040" y="2084832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78040" y="2084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2029968"/>
            <a:ext cx="2956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fecha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178040" y="265176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0" y="2596896"/>
            <a:ext cx="2956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salva captura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178040" y="3429000"/>
            <a:ext cx="4465015" cy="2468880"/>
          </a:xfrm>
          <a:prstGeom prst="roundRect">
            <a:avLst>
              <a:gd name="adj" fmla="val 4444"/>
            </a:avLst>
          </a:prstGeom>
          <a:solidFill>
            <a:srgbClr val="FFE9E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452360" y="356616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Desafio rápido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4023360"/>
            <a:ext cx="39163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 se orbitaLua for filha do planeta? Preveja antes de rodar.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câmera também é um Object3D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035040" cy="2011680"/>
          </a:xfrm>
          <a:prstGeom prst="roundRect">
            <a:avLst>
              <a:gd name="adj" fmla="val 5455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Camera(Object3D):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updateViewMatrix(self):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self.viewMatrix = np.linalg.inv(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self.getWorldMatrix())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6035040" cy="2240280"/>
          </a:xfrm>
          <a:prstGeom prst="roundRect">
            <a:avLst>
              <a:gd name="adj" fmla="val 4898"/>
            </a:avLst>
          </a:prstGeom>
          <a:solidFill>
            <a:srgbClr val="0F22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840480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 = Object3D()            # gira em Y (Q 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rig.setPosition([0, 3, 9])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scene.add(rig)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= Camera(aspectRatio=960 / 640)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rig.add(camera)             # inclina em X (setas)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1417320"/>
            <a:ext cx="478505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0" y="155448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viewMatrix = inversa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01168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Move o mundo ao contrário da câmera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0" y="2971800"/>
            <a:ext cx="478505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0" y="310896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Rig + câmera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56616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Pivô para virar e filho para inclinar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4526280"/>
            <a:ext cx="478505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0" y="466344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Perspectiva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512064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projectionMatrix também mora na Camera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3: navegando com a câmera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72184"/>
            <a:ext cx="1371600" cy="484632"/>
          </a:xfrm>
          <a:prstGeom prst="roundRect">
            <a:avLst>
              <a:gd name="adj" fmla="val 15094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7218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A S 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14173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anda (local ao rig)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066544"/>
            <a:ext cx="1371600" cy="484632"/>
          </a:xfrm>
          <a:prstGeom prst="roundRect">
            <a:avLst>
              <a:gd name="adj" fmla="val 15094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6654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0116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vira à esquerda / direita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60904"/>
            <a:ext cx="1371600" cy="484632"/>
          </a:xfrm>
          <a:prstGeom prst="roundRect">
            <a:avLst>
              <a:gd name="adj" fmla="val 15094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6090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F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606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sobe / desce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255264"/>
            <a:ext cx="1371600" cy="484632"/>
          </a:xfrm>
          <a:prstGeom prst="roundRect">
            <a:avLst>
              <a:gd name="adj" fmla="val 15094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5526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↓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32004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inclina a câmera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E9E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069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Experimente: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incline com ↓ e ande com W. A câmera anda na horizontal, pois quem anda é o rig.</a:t>
            </a:r>
            <a:endParaRPr lang="en-US" sz="1700" dirty="0"/>
          </a:p>
        </p:txBody>
      </p:sp>
      <p:pic>
        <p:nvPicPr>
          <p:cNvPr id="18" name="Image 0" descr="/private/tmp/claude-501/-Users-rodrigosantos-PycharmProjects-pygame/4508a808-1871-47ba-8789-6261a524b220/scratchpad/gc/dem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30952" cy="35539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309360" y="5062728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demo3_camera.py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3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 câmera anda para a DIREITA. Na tela, para onde parecem ir os objetos parados?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Direita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Esquerda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Não se movem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Para cima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Erros comuns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Objeto sumiu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foi adicionado à cena nem a um pai que está na cena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8218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1253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06898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Gira pelo meio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Falta um pivô na articulação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8402117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02117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96477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Peça não acompanha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 errado no add(): confira a árvore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Distância encolheu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scale antes de translate: posicione primeiro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38218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4612538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1253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06898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Depende do FPS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612538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Falta multiplicar por self.deltaTime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27797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8402117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02117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96477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Herdou rotação extra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8402117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Filho do objeto que gira, e não do pivô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Resumo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mundo =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pai @ local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getWorldMatrix sobe a árvore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390824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19424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Geometry +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Material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619424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Mesh junta o quê e o como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33008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61608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Pivô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Object3D vazio na articulação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075191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03791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Câmera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303791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é um Object3D; view = inversa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Atividade em dupla: braço robótico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Arquivo: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atividade_braco.py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· complete os TODO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Ombro: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pivô no topo da base + braço laranja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Cotovelo: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pivô na ponta do braço + antebraço azul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Garra: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caixa cinza na ponta do antebraço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/ D giram tudo em torno de 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983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Articulações: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 / S no ombro, I / K no cotovelo (eixo Z)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caixa(largura, altura, profundidade, cor) é centrada na origem local.</a:t>
            </a:r>
            <a:endParaRPr lang="en-US" sz="1400" dirty="0"/>
          </a:p>
        </p:txBody>
      </p:sp>
      <p:pic>
        <p:nvPicPr>
          <p:cNvPr id="21" name="Image 0" descr="/private/tmp/claude-501/-Users-rodrigosantos-PycharmProjects-pygame/4508a808-1871-47ba-8789-6261a524b220/scratchpad/gc/in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2468880" cy="16459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3796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Início</a:t>
            </a:r>
            <a:endParaRPr lang="en-US" sz="1300" dirty="0"/>
          </a:p>
        </p:txBody>
      </p:sp>
      <p:pic>
        <p:nvPicPr>
          <p:cNvPr id="23" name="Image 1" descr="/private/tmp/claude-501/-Users-rodrigosantos-PycharmProjects-pygame/4508a808-1871-47ba-8789-6261a524b220/scratchpad/gc/solu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1371600"/>
            <a:ext cx="2468880" cy="16459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71432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Esperado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537960" y="3611880"/>
            <a:ext cx="5102352" cy="2286000"/>
          </a:xfrm>
          <a:prstGeom prst="roundRect">
            <a:avLst>
              <a:gd name="adj" fmla="val 4800"/>
            </a:avLst>
          </a:prstGeom>
          <a:solidFill>
            <a:srgbClr val="FFE9E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766560" y="3611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Árvore esperada: 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cena → base → ombro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 braço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cotovelo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 antebraço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 garra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Entrega e critérios da atividade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Entregar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atividade_braco.py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alterado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Captura com o braço dobrado (tecla P)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Nomes dos dois integrantes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Um parágrafo: por que usar pivôs em vez de girar as caixas?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25 min · em dupla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17320"/>
          <a:ext cx="5608015" cy="914400"/>
        </p:xfrm>
        <a:graphic>
          <a:graphicData uri="http://schemas.openxmlformats.org/drawingml/2006/table">
            <a:tbl>
              <a:tblPr/>
              <a:tblGrid>
                <a:gridCol w="4510735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Ombro como pivô + braço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Cotovelo como pivô + antebraço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Garra na ponta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gira com A / 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Articulações W/S e I/K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Explicação dos pivôs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executável e entrega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foCena">
  <a:themeElements>
    <a:clrScheme name="GrafoCena">
      <a:dk1>
        <a:srgbClr val="17324D"/>
      </a:dk1>
      <a:lt1>
        <a:srgbClr val="FFFFFF"/>
      </a:lt1>
      <a:dk2>
        <a:srgbClr val="526273"/>
      </a:dk2>
      <a:lt2>
        <a:srgbClr val="F5F8FA"/>
      </a:lt2>
      <a:accent1>
        <a:srgbClr val="FA5128"/>
      </a:accent1>
      <a:accent2>
        <a:srgbClr val="2E7DD7"/>
      </a:accent2>
      <a:accent3>
        <a:srgbClr val="2FA36B"/>
      </a:accent3>
      <a:accent4>
        <a:srgbClr val="E0A800"/>
      </a:accent4>
      <a:accent5>
        <a:srgbClr val="7A5AF5"/>
      </a:accent5>
      <a:accent6>
        <a:srgbClr val="D64545"/>
      </a:accent6>
      <a:hlink>
        <a:srgbClr val="2E7DD7"/>
      </a:hlink>
      <a:folHlink>
        <a:srgbClr val="7A5AF5"/>
      </a:folHlink>
    </a:clrScheme>
    <a:fontScheme name="GrafoCen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 de Cena com Python e OpenGL</dc:title>
  <dc:subject>PptxGenJS Presentation</dc:subject>
  <dc:creator>Prof. Rodrigo Fernandes dos Santos</dc:creator>
  <cp:lastModifiedBy>Prof. Rodrigo Fernandes dos Santos</cp:lastModifiedBy>
  <cp:revision>1</cp:revision>
  <dcterms:created xsi:type="dcterms:W3CDTF">2026-10-07T18:47:22Z</dcterms:created>
  <dcterms:modified xsi:type="dcterms:W3CDTF">2026-10-07T18:47:22Z</dcterms:modified>
</cp:coreProperties>
</file>