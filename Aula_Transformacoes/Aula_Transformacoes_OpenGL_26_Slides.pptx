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3c5ffe9-d51c-750c-42db-72d24f494a61}">
          <p14:sldIdLst>
            <p14:sldId id="256"/>
            <p14:sldId id="257"/>
            <p14:sldId id="258"/>
          </p14:sldIdLst>
        </p14:section>
        <p14:section name="Matrizes de transformação" id="{f04e5a74-f287-fc47-b56c-de1037870a03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omposição e ordem" id="{72023f4a-a1e6-f88b-1102-045e45d13ae5}">
          <p14:sldIdLst>
            <p14:sldId id="265"/>
            <p14:sldId id="266"/>
            <p14:sldId id="267"/>
            <p14:sldId id="268"/>
          </p14:sldIdLst>
        </p14:section>
        <p14:section name="No código" id="{1e1b39a0-15e5-ebcd-e14a-1c0f4dc50e79}">
          <p14:sldIdLst>
            <p14:sldId id="269"/>
            <p14:sldId id="270"/>
            <p14:sldId id="271"/>
          </p14:sldIdLst>
        </p14:section>
        <p14:section name="Global, local e projeção" id="{58e0df57-5b49-d528-6afd-e8d95e7a8332}">
          <p14:sldIdLst>
            <p14:sldId id="272"/>
            <p14:sldId id="273"/>
            <p14:sldId id="274"/>
            <p14:sldId id="275"/>
            <p14:sldId id="276"/>
          </p14:sldIdLst>
        </p14:section>
        <p14:section name="Fechamento" id="{970b7584-75eb-a3ee-51fb-39e2cfc64dd5}">
          <p14:sldIdLst>
            <p14:sldId id="277"/>
            <p14:sldId id="278"/>
            <p14:sldId id="279"/>
          </p14:sldIdLst>
        </p14:section>
        <p14:section name="Atividade" id="{4999bb29-cf56-dc6b-ecb5-071540d90223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(2 min). Mostre a imagem: ao final da aula cada dupla vai construir este sistema solar animado usando só três tipos de matriz. Confirme que todos têm o ambiente instalado (pasta alunos, pip install -r requirements.txt).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(2 min). Leia os quatro objetivos. Explique que a aula alterna conceito e demonstração e termina com 25 minutos de atividade em dupla.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(3 min). No test-2-9 a translação era um uniform vec3 somado à posição. Pergunte: e se eu quiser girar? E escalar? E dar profundidade? Cada efeito exigiria um uniform e uma conta nova no shader. A solução é uma única matriz 4x4, a modelMatrix, que representa qualquer combinação de T, R e S. O test-3.py já usa essa ideia.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Coordenadas homogêneas (3 min). Uma matriz 3x3 só representa transformações lineares, e a translação não é linear. Acrescentamos w. Ponto: w = 1, então a translação age. Vetor (direção): w = 0, então a translação é ignorada, o que faz sentido porque uma direção não tem posição. Mostre na matriz: a última coluna multiplica 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Translação (3 min). A identidade com tx, ty, tz na última coluna. Faça a conta do exemplo no quadro: x continua 0.5, y recebe 0.3. Na demo 2, tecla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Rotação (3 min). Ângulo em radianos e positivo no sentido anti-horário. O ponto (0.5, 0) vai para (0, 0.5). Importante: a rotação é sempre em torno da ORIGEM. Isso vai explicar o problema da ordem. Mencione que existem make_rotation_x e make_rotation_y com a mesma ideia. Demo 2, tecla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(2 min). s &gt; 1 aumenta e 0 &lt; s &lt; 1 reduz. Assim como a rotação, a escala é feita em relação à origem: um objeto fora da origem também se afasta dela. Por isso a escala costuma ser aplicada primeiro (fica mais à direita). Demo 2, tecla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1 (2 min). Correta: B. O vetor tem w = 0, então a última coluna da matriz é multiplicada por zero e a translação não o altera. A alternativa A é o erro de quem esquece o 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 (3 min). Execute demo1_matrizes.py, que não abre janela. Mostre que o código é só numpy e a classe Matrix. Destaque as duas linhas da composição: os resultados diferentes provam que a ordem importa. Esse é o gancho para o próximo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Composição (3 min). Multiplicar as matrizes gera UMA matriz que faz tudo de uma vez, e é ela que vai para a GPU. Leitura: da direita para a esquerda. A matriz mais próxima do ponto age primeiro. Ordem típica para um objeto: escala, depois gira no próprio centro, depois posiciona. Ou seja, T @ R @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Ordem (4 min). Esquerda, T @ R: a seta gira no próprio centro e depois vai para x = 0.5. Direita, R @ T: primeiro vai para x = 0.5 e depois gira em torno da ORIGEM, ou seja, orbita. Use os números da demo 1: (0, 0.8) e (-0.3, 0.5). Esse 'defeito' é o que vamos usar de propósito para fazer a órbita do planeta na atividade.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2 (4 min). Execute demo2_transformacoes.py. Passe pelas teclas 1 a 6 e o título da janela mostra o modo. Na tecla 4 mostre que a escala pulsa em relação à origem. Alterne entre 5 e 6 várias vezes e peça para a turma descrever a diferença com as próprias palavras. Abra o código e mostre o dicionário de matrizes.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2 (2 min). Correta: B. T @ R gira primeiro, enquanto a seta ainda está na origem e portanto no próprio centro, e depois translada. R @ T faria a seta orbitar. Confira na demo 2 com as teclas 5 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 Matrix (2 min). Métodos estáticos que devolvem arrays numpy 4x4 de float. O operador @ multiplica as matrizes. Os parâmetros padrão de make_perspective são 60 graus, aspecto 1, near 0.1 e far 1000. make_look_at será usada quando tivermos câmera.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Uniform mat4 (3 min). O numpy guarda a matriz por linhas e o GLSL por colunas. GL_TRUE pede ao OpenGL que transponha. Sem isso a translação vai para a última LINHA e o objeto some ou deforma. Aviso: o core/uniform.py da raiz do repositório ainda não tem o caso mat4, por isso o test-3.py não desenha nada. A pasta alunos já traz a versão corrigida.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(3 min). Coordenadas locais são as da forma (seta centrada na origem). A modelMatrix leva o objeto ao mundo. A projectionMatrix leva o mundo ao espaço de recorte, que o OpenGL converte para a tela. No shader a leitura também é da direita para a esquerda.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x local (3 min). Mesma matriz m, lados diferentes. À esquerda (global), m age depois de tudo, nos eixos do MUNDO: W sobe sempre na tela e Q gira em volta da origem. À direita (local), m age antes de tudo, nos eixos do OBJETO: I anda para onde a seta aponta e U gira no próprio centro. É exatamente o código do test-3.py.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3 (5 min). Execute demo3_global_local.py. Roteiro: (1) gire 90° com U e ande com I: a seta anda para a esquerda, na direção dela. (2) Agora aperte W: sobe na tela, ignorando a orientação. (3) Afaste-se da origem com D e gire com Q: a seta descreve um arco em volta do centro. (4) Gire com U: gira no lugar. (5) X afasta e a seta diminui. Aperte V e repita: na ortográfica o tamanho não muda. R reinicia.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Perspectiva (3 min). A câmera está na origem e olha para -z. Só aparece o que estiver entre os planos near e far, dentro do ângulo de visão. Por isso o test-3 começa com translação (0, 0, -1). Em z = 0 o objeto fica atrás do near e some: é o erro mais comum. A perspectiva divide por -z, então quanto mais longe, menor.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(2 min). Na perspectiva o tamanho depende da distância, o que é realista e usado em jogos 3D. Na ortográfica o tamanho é constante e as linhas paralelas continuam paralelas, o que se usa em CAD, jogos 2D e mapas. Na demo 3 a tecla V alterna as duas. Os limites da ortográfica foram escolhidos para que em z = -1 as duas fiquem iguais.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3 (2 min). Correta: A. Na perspectiva, quanto maior a distância, menor a seta. Depois pergunte o que acontece na ortográfica: mantém o tamanho, que seria a B. Confirme ao vivo com a tecla V na demo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Hierarquia (3 min). É a ponte para a atividade. A lua precisa acompanhar o planeta, então a matriz dela começa com a matriz do pai (a órbita do planeta) e depois aplica a própria transformação local. filho = pai @ local. Não mostre a solução completa, só a estrutura.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Erros comuns (3 min). Passe rapidamente pelos seis. Na atividade, oriente a turma a consultar este slide antes de chamar 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(2 min). Leia os quatro cartões. Se possível, peça que um aluno explique cada um com as próprias palavras antes de passar para a atividade.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(2 min de orientação). Mostre o arquivo atividade_sistema_solar.py: os ângulos já são acumulados com deltaTime e só as matrizes e o teclado estão marcados com TODO. Dica principal: a órbita é R @ T (como a tecla 6 da demo 2) e a rotação própria é local, à direita. Circule pela sala nos 20 minutos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 (3 min ao final). Tempo total: 25 minutos, sendo 2 de orientação, 20 de desenvolvimento e 3 para a entrega. A captura é salva com a tecla P em capturas/resultado.png. A rubrica detalhada está em professor/RUBRICA.md.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EB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A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Transformações Geométricas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Python e OpenGL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EB"/>
                </a:solidFill>
              </a:rPr>
              <a:t>Translação, rotação, escala e projeção com matrizes 4x4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EB"/>
                </a:solidFill>
              </a:rPr>
              <a:t>Prof. Rodrigo Fernandes dos Santos · Computação Gráfica · Unipac Barbacena</a:t>
            </a:r>
            <a:endParaRPr lang="en-US" sz="1400" dirty="0"/>
          </a:p>
        </p:txBody>
      </p:sp>
      <p:pic>
        <p:nvPicPr>
          <p:cNvPr id="5" name="Image 0" descr="/private/tmp/claude-501/-Users-rodrigosantos-PycharmProjects-pygame/4508a808-1871-47ba-8789-6261a524b220/scratchpad/shots/solu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43000"/>
            <a:ext cx="3840480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63840" y="5074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EB"/>
                </a:solidFill>
              </a:rPr>
              <a:t>Meta da aula: este mini sistema solar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Objetivos e percurso da aula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5087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Representar translação, rotação e escala como matrizes 4x4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3317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Compor transformações e prever o efeito da ordem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1546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Distinguir transformações globais e locais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9776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Usar projeções perspectiva e ortográfica no vertex shader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90 minutos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349240"/>
            <a:ext cx="3643274" cy="5486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5349240"/>
            <a:ext cx="342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Conceitos · 30 min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246778" y="5349240"/>
            <a:ext cx="4259631" cy="5486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383938" y="5349240"/>
            <a:ext cx="4040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Demonstrações · 35 min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561273" y="5349240"/>
            <a:ext cx="3026918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698433" y="5349240"/>
            <a:ext cx="28074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Atividade · 25 min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503920" y="1600200"/>
            <a:ext cx="0" cy="226771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03920" y="160020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503920" y="386791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247120" y="1600200"/>
            <a:ext cx="0" cy="226771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137392" y="160020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137392" y="386791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503920" y="16002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189720" y="16002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9875520" y="16002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10561320" y="16002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8503920" y="216712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9189720" y="216712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9875520" y="216712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10561320" y="216712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8503920" y="273405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9189720" y="273405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9875520" y="273405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0561320" y="273405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tz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8503920" y="330098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9189720" y="330098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9875520" y="330098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561320" y="330098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Onde paramos: um uniform vec3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test-2-9.py · vertex shader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669280" cy="2286000"/>
          </a:xfrm>
          <a:prstGeom prst="roundRect">
            <a:avLst>
              <a:gd name="adj" fmla="val 4800"/>
            </a:avLst>
          </a:prstGeom>
          <a:solidFill>
            <a:srgbClr val="0F223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92024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vec3 position;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 vec3 translation;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vec3 pos = position + translation;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gl_Position = vec4(pos, 1.0);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1371600"/>
            <a:ext cx="4965192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94944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Limitações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05740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Apenas desloca o objeto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Não gira nem escala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Não há perspectiva nem profundidade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Cada efeito novo pede outro uniform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438912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FFE9E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4389120"/>
            <a:ext cx="10454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Ideia da aula: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uma única matriz 4x4 (modelMatrix) combina translação, rotação e escala. O vertex shader só multiplica: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gl_Position = projectionMatrix * modelMatrix * vec4(position, 1.0)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Coordenadas homogêneas: o quarto número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Ponto · w = 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Uma posição. A translação a desloca.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0480" y="1645920"/>
            <a:ext cx="0" cy="164592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0480" y="164592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0" y="329184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645920"/>
            <a:ext cx="0" cy="164592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53712" y="164592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53712" y="329184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645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2057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468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8803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245352" y="141732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19672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Vetor · w = 0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519672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Uma direção. A translação não a altera.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537192" y="1645920"/>
            <a:ext cx="0" cy="164592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37192" y="164592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37192" y="329184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360152" y="1645920"/>
            <a:ext cx="0" cy="164592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250424" y="164592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50424" y="329184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537192" y="1645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537192" y="2057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537192" y="2468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537192" y="28803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última coluna da matriz multiplica w: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48640" y="4434840"/>
            <a:ext cx="0" cy="153619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443484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597103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743200" y="4434840"/>
            <a:ext cx="0" cy="153619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633472" y="443484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633472" y="597103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8640" y="44348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1097280" y="44348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1645920" y="44348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2194560" y="44348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48188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1097280" y="48188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1645920" y="48188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2194560" y="48188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20293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1097280" y="520293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1645920" y="520293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2194560" y="520293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tz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55869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1097280" y="55869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1645920" y="55869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52" name="Text 49"/>
          <p:cNvSpPr txBox="1"/>
          <p:nvPr/>
        </p:nvSpPr>
        <p:spPr>
          <a:xfrm>
            <a:off x="2194560" y="55869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3063240" y="4434840"/>
            <a:ext cx="0" cy="153619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063240" y="443484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063240" y="597103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611880" y="4434840"/>
            <a:ext cx="0" cy="153619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502152" y="443484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502152" y="597103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3063240" y="44348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3063240" y="48188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600" dirty="0"/>
          </a:p>
        </p:txBody>
      </p:sp>
      <p:sp>
        <p:nvSpPr>
          <p:cNvPr id="61" name="Text 58"/>
          <p:cNvSpPr txBox="1"/>
          <p:nvPr/>
        </p:nvSpPr>
        <p:spPr>
          <a:xfrm>
            <a:off x="3063240" y="520293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3063240" y="55869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600" dirty="0"/>
          </a:p>
        </p:txBody>
      </p:sp>
      <p:sp>
        <p:nvSpPr>
          <p:cNvPr id="63" name="Text 60"/>
          <p:cNvSpPr txBox="1"/>
          <p:nvPr/>
        </p:nvSpPr>
        <p:spPr>
          <a:xfrm>
            <a:off x="370332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=</a:t>
            </a:r>
            <a:endParaRPr lang="en-US" sz="2400" dirty="0"/>
          </a:p>
        </p:txBody>
      </p:sp>
      <p:sp>
        <p:nvSpPr>
          <p:cNvPr id="64" name="Shape 61"/>
          <p:cNvSpPr/>
          <p:nvPr/>
        </p:nvSpPr>
        <p:spPr>
          <a:xfrm>
            <a:off x="4206240" y="4434840"/>
            <a:ext cx="0" cy="153619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206240" y="443484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206240" y="597103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760720" y="4434840"/>
            <a:ext cx="0" cy="153619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650992" y="443484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650992" y="597103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206240" y="4434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tx·w</a:t>
            </a:r>
            <a:endParaRPr lang="en-US" sz="1600" dirty="0"/>
          </a:p>
        </p:txBody>
      </p:sp>
      <p:sp>
        <p:nvSpPr>
          <p:cNvPr id="71" name="Text 68"/>
          <p:cNvSpPr txBox="1"/>
          <p:nvPr/>
        </p:nvSpPr>
        <p:spPr>
          <a:xfrm>
            <a:off x="4206240" y="4818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+ ty·w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4206240" y="52029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+ tz·w</a:t>
            </a:r>
            <a:endParaRPr lang="en-US" sz="1600" dirty="0"/>
          </a:p>
        </p:txBody>
      </p:sp>
      <p:sp>
        <p:nvSpPr>
          <p:cNvPr id="73" name="Text 70"/>
          <p:cNvSpPr txBox="1"/>
          <p:nvPr/>
        </p:nvSpPr>
        <p:spPr>
          <a:xfrm>
            <a:off x="4206240" y="55869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600" dirty="0"/>
          </a:p>
        </p:txBody>
      </p:sp>
      <p:sp>
        <p:nvSpPr>
          <p:cNvPr id="74" name="Text 71"/>
          <p:cNvSpPr txBox="1"/>
          <p:nvPr/>
        </p:nvSpPr>
        <p:spPr>
          <a:xfrm>
            <a:off x="6766560" y="4709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w = 1 → soma a translação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w = 0 → nada muda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Translação: desloca o ponto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0" cy="226771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50876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77647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0" y="1508760"/>
            <a:ext cx="0" cy="226771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93792" y="150876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93792" y="377647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508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1508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1508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0" y="1508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0756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737360" y="20756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20756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114800" y="20756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6426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26426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2926080" y="26426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0" y="26426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tz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2095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737360" y="32095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2926080" y="32095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114800" y="32095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02336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Matrix.make_translation(x, y, z)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Identidade + deslocamento na última coluna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Só afeta pontos (w = 1)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6035040" y="1417320"/>
            <a:ext cx="2468880" cy="45262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26364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Exemplo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26364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T(0, 0.3, 0)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26364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aplicado a (0.5, 0, 0, 1)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26364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↓</a:t>
            </a:r>
            <a:endParaRPr lang="en-US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26364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(0.5, 0.3, 0)</a:t>
            </a:r>
            <a:endParaRPr lang="en-US" sz="1800" dirty="0"/>
          </a:p>
        </p:txBody>
      </p:sp>
      <p:pic>
        <p:nvPicPr>
          <p:cNvPr id="33" name="Image 0" descr="/private/tmp/claude-501/-Users-rodrigosantos-PycharmProjects-pygame/4508a808-1871-47ba-8789-6261a524b220/scratchpad/shots/demo2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417320"/>
            <a:ext cx="2862072" cy="286207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778240" y="43891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demo2_transformacoes.py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Rotação em torno do eixo z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0" cy="226771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50876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77647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0" y="1508760"/>
            <a:ext cx="0" cy="226771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93792" y="150876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93792" y="377647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508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 θ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1508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-sin θ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1508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0" y="1508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0756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θ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737360" y="20756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 θ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20756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114800" y="20756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6426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26426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2926080" y="26426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0" y="26426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2095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737360" y="32095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2926080" y="32095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114800" y="32095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02336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Matrix.make_rotation_z(angulo)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Ângulo em radianos, anti-horário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Sempre em torno da ORIGEM; também há rotation_x e rotation_y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6035040" y="1417320"/>
            <a:ext cx="2468880" cy="45262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26364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Exemplo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26364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Rz(90°)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26364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aplicado a (0.5, 0, 0, 1)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26364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↓</a:t>
            </a:r>
            <a:endParaRPr lang="en-US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26364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(0, 0.5, 0)</a:t>
            </a:r>
            <a:endParaRPr lang="en-US" sz="1800" dirty="0"/>
          </a:p>
        </p:txBody>
      </p:sp>
      <p:pic>
        <p:nvPicPr>
          <p:cNvPr id="33" name="Image 0" descr="/private/tmp/claude-501/-Users-rodrigosantos-PycharmProjects-pygame/4508a808-1871-47ba-8789-6261a524b220/scratchpad/shots/demo2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417320"/>
            <a:ext cx="2862072" cy="286207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778240" y="43891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demo2_transformacoes.py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Escala: aumenta ou reduz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0" cy="226771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50876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77647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0" y="1508760"/>
            <a:ext cx="0" cy="2267712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93792" y="1508760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93792" y="3776472"/>
            <a:ext cx="109728" cy="0"/>
          </a:xfrm>
          <a:prstGeom prst="line">
            <a:avLst/>
          </a:prstGeom>
          <a:noFill/>
          <a:ln w="31750">
            <a:solidFill>
              <a:srgbClr val="17324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508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1508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1508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0" y="1508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0756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737360" y="20756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20756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114800" y="20756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6426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26426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2926080" y="26426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0" y="26426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2095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737360" y="32095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2926080" y="32095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114800" y="32095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02336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Matrix.make_scale(s)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 &gt; 1 aumenta, s &lt; 1 reduz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Também em relação à ORIGEM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6035040" y="1417320"/>
            <a:ext cx="2468880" cy="45262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26364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Exemplo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26364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S(2)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26364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aplicado a (0.5, 0, 0, 1)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26364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↓</a:t>
            </a:r>
            <a:endParaRPr lang="en-US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26364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(1, 0, 0)</a:t>
            </a:r>
            <a:endParaRPr lang="en-US" sz="1800" dirty="0"/>
          </a:p>
        </p:txBody>
      </p:sp>
      <p:pic>
        <p:nvPicPr>
          <p:cNvPr id="33" name="Image 0" descr="/private/tmp/claude-501/-Users-rodrigosantos-PycharmProjects-pygame/4508a808-1871-47ba-8789-6261a524b220/scratchpad/shots/demo2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417320"/>
            <a:ext cx="2862072" cy="286207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778240" y="43891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demo2_transformacoes.py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Pergunta rápida 1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O que a translação T(1, 0, 0) faz com o VETOR (0, 1, 0, 0)?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(1, 1, 0, 0)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390824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0" name="Shape 7"/>
          <p:cNvSpPr/>
          <p:nvPr/>
        </p:nvSpPr>
        <p:spPr>
          <a:xfrm>
            <a:off x="3665144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65144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65144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(0, 1, 0, 0)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233008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4" name="Shape 11"/>
          <p:cNvSpPr/>
          <p:nvPr/>
        </p:nvSpPr>
        <p:spPr>
          <a:xfrm>
            <a:off x="6507328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07328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(1, 0, 0, 1)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075191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8" name="Shape 15"/>
          <p:cNvSpPr/>
          <p:nvPr/>
        </p:nvSpPr>
        <p:spPr>
          <a:xfrm>
            <a:off x="9349511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349511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349511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(0, 0, 0, 0)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ADCEB"/>
                </a:solidFill>
              </a:rPr>
              <a:t>Discuta com a dupla por 1 minuto antes de responder.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A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 1: matrizes no terminal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Execute: 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demo1_matrizes.py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Ponto em coordenadas homogêneas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T, R e S aplicadas com o operador @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Observe as duas últimas composições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420624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E9E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2062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Mesmas matrizes, ordem diferente,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resultados diferentes.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120640" y="1417320"/>
            <a:ext cx="6519672" cy="4480560"/>
          </a:xfrm>
          <a:prstGeom prst="roundRect">
            <a:avLst>
              <a:gd name="adj" fmla="val 2449"/>
            </a:avLst>
          </a:prstGeom>
          <a:solidFill>
            <a:srgbClr val="0F223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49240" y="1600200"/>
            <a:ext cx="60624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 original: [0.5 0.  0.  1. 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@ ponto = [0.5 0.3 0.  1. 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@ ponto = [0.  0.5 0.  1. 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@ ponto = [1.  0.  0.  1. 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Composição ---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 @ R) @ ponto  -&gt; gira, depois translada: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[ 0.   0.8  0.   1. 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 @ T) @ ponto  -&gt; translada, depois gira: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[-0.3  0.5  0.   1. 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 (w = 0) -&gt; T @ vetor = [0.5 0. 0. 0.]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Composição: uma matriz para tudo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0F223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T @ R @ S          # uma única matriz 4x4 enviada ao shader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Ponto local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468880" y="3063240"/>
            <a:ext cx="304724" cy="365760"/>
          </a:xfrm>
          <a:prstGeom prst="rightArrow">
            <a:avLst/>
          </a:prstGeom>
          <a:solidFill>
            <a:srgbClr val="C9D3DC"/>
          </a:solidFill>
          <a:ln/>
        </p:spPr>
      </p:sp>
      <p:sp>
        <p:nvSpPr>
          <p:cNvPr id="9" name="Shape 6"/>
          <p:cNvSpPr/>
          <p:nvPr/>
        </p:nvSpPr>
        <p:spPr>
          <a:xfrm>
            <a:off x="2865044" y="274320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865044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 · escala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785284" y="3063240"/>
            <a:ext cx="304724" cy="365760"/>
          </a:xfrm>
          <a:prstGeom prst="rightArrow">
            <a:avLst/>
          </a:prstGeom>
          <a:solidFill>
            <a:srgbClr val="C9D3DC"/>
          </a:solidFill>
          <a:ln/>
        </p:spPr>
      </p:sp>
      <p:sp>
        <p:nvSpPr>
          <p:cNvPr id="12" name="Shape 9"/>
          <p:cNvSpPr/>
          <p:nvPr/>
        </p:nvSpPr>
        <p:spPr>
          <a:xfrm>
            <a:off x="5181448" y="274320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181448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 · gira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101688" y="3063240"/>
            <a:ext cx="304724" cy="365760"/>
          </a:xfrm>
          <a:prstGeom prst="rightArrow">
            <a:avLst/>
          </a:prstGeom>
          <a:solidFill>
            <a:srgbClr val="C9D3DC"/>
          </a:solidFill>
          <a:ln/>
        </p:spPr>
      </p:sp>
      <p:sp>
        <p:nvSpPr>
          <p:cNvPr id="15" name="Shape 12"/>
          <p:cNvSpPr/>
          <p:nvPr/>
        </p:nvSpPr>
        <p:spPr>
          <a:xfrm>
            <a:off x="7497851" y="274320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97851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 · posiciona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418091" y="3063240"/>
            <a:ext cx="304724" cy="365760"/>
          </a:xfrm>
          <a:prstGeom prst="rightArrow">
            <a:avLst/>
          </a:prstGeom>
          <a:solidFill>
            <a:srgbClr val="C9D3DC"/>
          </a:solidFill>
          <a:ln/>
        </p:spPr>
      </p:sp>
      <p:sp>
        <p:nvSpPr>
          <p:cNvPr id="18" name="Shape 15"/>
          <p:cNvSpPr/>
          <p:nvPr/>
        </p:nvSpPr>
        <p:spPr>
          <a:xfrm>
            <a:off x="9814255" y="274320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814255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Mundo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ordem de aplicação 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45262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68680" y="452628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Regra de leitura: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em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@ R @ S @ ponto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, a matriz mais à direita (mais perto do ponto) é aplicada primeiro. Multiplicação de matrizes é associativa, mas </a:t>
            </a:r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não é comutativa.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ordem importa: T @ R  x  R @ T</a:t>
            </a:r>
            <a:endParaRPr lang="en-US" sz="3200" dirty="0"/>
          </a:p>
        </p:txBody>
      </p:sp>
      <p:pic>
        <p:nvPicPr>
          <p:cNvPr id="4" name="Image 0" descr="/private/tmp/claude-501/-Users-rodrigosantos-PycharmProjects-pygame/4508a808-1871-47ba-8789-6261a524b220/scratchpad/shots/demo2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291840" cy="3291840"/>
          </a:xfrm>
          <a:prstGeom prst="rect">
            <a:avLst/>
          </a:prstGeom>
        </p:spPr>
      </p:pic>
      <p:pic>
        <p:nvPicPr>
          <p:cNvPr id="5" name="Image 1" descr="/private/tmp/claude-501/-Users-rodrigosantos-PycharmProjects-pygame/4508a808-1871-47ba-8789-6261a524b220/scratchpad/shots/demo2_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371600"/>
            <a:ext cx="3291840" cy="3291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@ R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gira no lugar e depois translada</a:t>
            </a:r>
            <a:endParaRPr lang="en-US" sz="1600" dirty="0"/>
          </a:p>
        </p:txBody>
      </p:sp>
      <p:sp>
        <p:nvSpPr>
          <p:cNvPr id="7" name="Text 2"/>
          <p:cNvSpPr txBox="1"/>
          <p:nvPr/>
        </p:nvSpPr>
        <p:spPr>
          <a:xfrm>
            <a:off x="416052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@ 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translada e depois gira em volta da origem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7818120" y="1371600"/>
            <a:ext cx="3824935" cy="4023360"/>
          </a:xfrm>
          <a:prstGeom prst="roundRect">
            <a:avLst>
              <a:gd name="adj" fmla="val 2869"/>
            </a:avLst>
          </a:prstGeom>
          <a:solidFill>
            <a:schemeClr val="bg2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8092440" y="1554480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 o ponto (0.5, 0, 0):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8092440" y="2103120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 @ R) @ p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8092440" y="2468880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(0, 0.8)</a:t>
            </a:r>
            <a:endParaRPr lang="en-US" sz="2800" dirty="0"/>
          </a:p>
        </p:txBody>
      </p:sp>
      <p:sp>
        <p:nvSpPr>
          <p:cNvPr id="12" name="Text 7"/>
          <p:cNvSpPr txBox="1"/>
          <p:nvPr/>
        </p:nvSpPr>
        <p:spPr>
          <a:xfrm>
            <a:off x="8092440" y="3246120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 @ T) @ p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092440" y="3611880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(-0.3, 0.5)</a:t>
            </a:r>
            <a:endParaRPr lang="en-US" sz="2800" dirty="0"/>
          </a:p>
        </p:txBody>
      </p:sp>
      <p:sp>
        <p:nvSpPr>
          <p:cNvPr id="14" name="Text 9"/>
          <p:cNvSpPr txBox="1"/>
          <p:nvPr/>
        </p:nvSpPr>
        <p:spPr>
          <a:xfrm>
            <a:off x="8092440" y="443484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Seta cinza: posição original. Animado na demo 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 2: transformações ao vivo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72184"/>
            <a:ext cx="7315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721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41732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Identidade: nada muda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039112"/>
            <a:ext cx="7315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039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9842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Translação T(0.5, 0, 0)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7315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55117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Rotação Rz(tempo)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172968"/>
            <a:ext cx="7315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1729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311810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Escala pulsando entre 1 e 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739896"/>
            <a:ext cx="7315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7398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508760" y="368503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 @ R: gira no lugar, fora da origem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306824"/>
            <a:ext cx="7315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30682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508760" y="425196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 @ T: orbita a origem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983480"/>
            <a:ext cx="6035040" cy="914400"/>
          </a:xfrm>
          <a:prstGeom prst="roundRect">
            <a:avLst>
              <a:gd name="adj" fmla="val 12000"/>
            </a:avLst>
          </a:prstGeom>
          <a:solidFill>
            <a:srgbClr val="0F223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51663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self.modelMatrix.data = matrizes[self.modo]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self.modelMatrix.uploadData()</a:t>
            </a:r>
            <a:endParaRPr lang="en-US" sz="1400" dirty="0"/>
          </a:p>
        </p:txBody>
      </p:sp>
      <p:pic>
        <p:nvPicPr>
          <p:cNvPr id="24" name="Image 0" descr="/private/tmp/claude-501/-Users-rodrigosantos-PycharmProjects-pygame/4508a808-1871-47ba-8789-6261a524b220/scratchpad/shots/demo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4114800" cy="41148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132320" y="5596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Eixos X (vermelho) e Y (verde)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Pergunta rápida 2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 seta deve ficar em (0.5, 0) e girar em torno do PRÓPRIO centro. Qual matriz usar?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@ 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390824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0" name="Shape 7"/>
          <p:cNvSpPr/>
          <p:nvPr/>
        </p:nvSpPr>
        <p:spPr>
          <a:xfrm>
            <a:off x="3665144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65144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65144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@ R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233008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4" name="Shape 11"/>
          <p:cNvSpPr/>
          <p:nvPr/>
        </p:nvSpPr>
        <p:spPr>
          <a:xfrm>
            <a:off x="6507328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07328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@ R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075191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8" name="Shape 15"/>
          <p:cNvSpPr/>
          <p:nvPr/>
        </p:nvSpPr>
        <p:spPr>
          <a:xfrm>
            <a:off x="9349511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349511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349511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@ T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ADCEB"/>
                </a:solidFill>
              </a:rPr>
              <a:t>Discuta com a dupla por 1 minuto antes de responder.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A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classe Matrix (core/matrix.py)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583680" cy="4480560"/>
          </a:xfrm>
          <a:prstGeom prst="roundRect">
            <a:avLst>
              <a:gd name="adj" fmla="val 2449"/>
            </a:avLst>
          </a:prstGeom>
          <a:solidFill>
            <a:srgbClr val="0F223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core.matrix import Matrix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Matrix.make_identity()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Matrix.make_translation(x, y, z)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Matrix.make_rotation_x(angulo)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Matrix.make_rotation_y(angulo)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Matrix.make_rotation_z(angulo)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Matrix.make_scale(s)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Matrix.make_perspective(60, 1, 0.1, 1000)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Matrix.make_orthographic(-1, 1, -1, 1, -1, 1)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Matrix.make_translation(0, 0, -1) @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Matrix.make_rotation_z(pi / 4)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98080" y="1417320"/>
            <a:ext cx="414497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1554480"/>
            <a:ext cx="3596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numpy 4x4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965960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método devolve um np.array de floats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98080" y="2971800"/>
            <a:ext cx="414497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0" y="3108960"/>
            <a:ext cx="3596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Operador @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520440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Multiplica matrizes (não use *)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498080" y="4526280"/>
            <a:ext cx="4144975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4663440"/>
            <a:ext cx="3596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Radianos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5074920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Ângulos em radianos: 90° = pi / 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Enviando a matriz: Uniform mat4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core/uniform.py · uploadData()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6766560" cy="2011680"/>
          </a:xfrm>
          <a:prstGeom prst="roundRect">
            <a:avLst>
              <a:gd name="adj" fmla="val 5455"/>
            </a:avLst>
          </a:prstGeom>
          <a:solidFill>
            <a:srgbClr val="0F223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92024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self.dataType == "mat4":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numpy.array(self.data).astype(numpy.float32)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glUniformMatrix4fv(self.variableRef, 1,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GL_TRUE, data)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977640"/>
            <a:ext cx="6766560" cy="1920240"/>
          </a:xfrm>
          <a:prstGeom prst="roundRect">
            <a:avLst>
              <a:gd name="adj" fmla="val 5714"/>
            </a:avLst>
          </a:prstGeom>
          <a:solidFill>
            <a:srgbClr val="0F223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self.modelMatrix = Uniform("mat4", m)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self.modelMatrix.locateVariable(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self.programRef, "modelMatrix")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cada quadro: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self.modelMatrix.uploadData()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80960" y="1371600"/>
            <a:ext cx="396209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955280" y="1554480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Por que GL_TRUE?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2011680"/>
            <a:ext cx="34134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numpy guarda a matriz por linhas e o GLSL por colunas. GL_TRUE transpõe na hora do envio.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80960" y="3977640"/>
            <a:ext cx="3962095" cy="1920240"/>
          </a:xfrm>
          <a:prstGeom prst="roundRect">
            <a:avLst>
              <a:gd name="adj" fmla="val 5714"/>
            </a:avLst>
          </a:prstGeom>
          <a:solidFill>
            <a:srgbClr val="FFE9E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55280" y="4114800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Atenção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4526280"/>
            <a:ext cx="34134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core/ da raiz do repositório ainda não trata mat4. Use o da pasta alunos.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Vertex shader: do local à tela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0F223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106372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vec3 position;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 mat4 projectionMatrix;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 mat4 modelMatrix;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gl_Position = projectionMatrix * modelMatrix * vec4(position, 1.0);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931920"/>
            <a:ext cx="23774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Local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posição da forma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035808" y="4434840"/>
            <a:ext cx="308762" cy="365760"/>
          </a:xfrm>
          <a:prstGeom prst="rightArrow">
            <a:avLst/>
          </a:prstGeom>
          <a:solidFill>
            <a:srgbClr val="C9D3DC"/>
          </a:solidFill>
          <a:ln/>
        </p:spPr>
      </p:sp>
      <p:sp>
        <p:nvSpPr>
          <p:cNvPr id="10" name="Shape 7"/>
          <p:cNvSpPr/>
          <p:nvPr/>
        </p:nvSpPr>
        <p:spPr>
          <a:xfrm>
            <a:off x="3454298" y="3931920"/>
            <a:ext cx="237744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54298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Mundo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454298" y="4617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modelMatrix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1466" y="4434840"/>
            <a:ext cx="308762" cy="365760"/>
          </a:xfrm>
          <a:prstGeom prst="rightArrow">
            <a:avLst/>
          </a:prstGeom>
          <a:solidFill>
            <a:srgbClr val="C9D3DC"/>
          </a:solidFill>
          <a:ln/>
        </p:spPr>
      </p:sp>
      <p:sp>
        <p:nvSpPr>
          <p:cNvPr id="14" name="Shape 11"/>
          <p:cNvSpPr/>
          <p:nvPr/>
        </p:nvSpPr>
        <p:spPr>
          <a:xfrm>
            <a:off x="6359957" y="3931920"/>
            <a:ext cx="237744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59957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Recorte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359957" y="4617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projectionMatrix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847125" y="4434840"/>
            <a:ext cx="308762" cy="365760"/>
          </a:xfrm>
          <a:prstGeom prst="rightArrow">
            <a:avLst/>
          </a:prstGeom>
          <a:solidFill>
            <a:srgbClr val="C9D3DC"/>
          </a:solidFill>
          <a:ln/>
        </p:spPr>
      </p:sp>
      <p:sp>
        <p:nvSpPr>
          <p:cNvPr id="18" name="Shape 15"/>
          <p:cNvSpPr/>
          <p:nvPr/>
        </p:nvSpPr>
        <p:spPr>
          <a:xfrm>
            <a:off x="9265615" y="3931920"/>
            <a:ext cx="237744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265615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Tela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265615" y="4617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feito pelo OpenGL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532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vec4(position, 1.0): o w = 1 transforma a posição em ponto homogêneo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Global x local: de que lado multiplicar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600200"/>
            <a:ext cx="399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Global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011680"/>
            <a:ext cx="399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eixos do MUNDO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606040"/>
            <a:ext cx="4815688" cy="777240"/>
          </a:xfrm>
          <a:prstGeom prst="roundRect">
            <a:avLst>
              <a:gd name="adj" fmla="val 14118"/>
            </a:avLst>
          </a:prstGeom>
          <a:solidFill>
            <a:srgbClr val="0F223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51560" y="2788920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m @ modelo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611880"/>
            <a:ext cx="48156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 A S D: move sempre para cima, baixo e lados da tela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Q E: gira em torno da origem do mundo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Útil para posicionar no cenário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78728" y="141732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6553048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5304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376008" y="1600200"/>
            <a:ext cx="399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Local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7376008" y="2011680"/>
            <a:ext cx="399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eixos do OBJETO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553048" y="2606040"/>
            <a:ext cx="4815688" cy="777240"/>
          </a:xfrm>
          <a:prstGeom prst="roundRect">
            <a:avLst>
              <a:gd name="adj" fmla="val 14118"/>
            </a:avLst>
          </a:prstGeom>
          <a:solidFill>
            <a:srgbClr val="0F223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781648" y="2788920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modelo @ m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553048" y="3611880"/>
            <a:ext cx="48156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 J K L: anda para onde a seta aponta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 O: gira em torno do próprio centro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Útil para movimentar personagens e veículos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 3: global x local e projeção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72184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721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A S 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148840" y="14173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Move nos eixos do mundo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039112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0391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 X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198424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Aproxima e afasta (eixo z)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255117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Gira em torno da origem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172968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1729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J K L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148840" y="311810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Move nos eixos da seta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739896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7398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 O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148840" y="368503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Gira no próprio centro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306824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306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2148840" y="42519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Perspectiva ↔ ortográfica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873752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8737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2148840" y="481888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Reinicia a posição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4864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Experimente: U por 1 s e depois I. Compare com W.</a:t>
            </a:r>
            <a:endParaRPr lang="en-US" sz="1500" dirty="0"/>
          </a:p>
        </p:txBody>
      </p:sp>
      <p:pic>
        <p:nvPicPr>
          <p:cNvPr id="26" name="Image 0" descr="/private/tmp/claude-501/-Users-rodrigosantos-PycharmProjects-pygame/4508a808-1871-47ba-8789-6261a524b220/scratchpad/shots/dem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4114800" cy="41148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132320" y="5596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Seta em z = -1, projeção perspectiva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Projeção perspectiva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câmera (0, 0, 0)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 flipV="1">
            <a:off x="914400" y="1645920"/>
            <a:ext cx="5120640" cy="2011680"/>
          </a:xfrm>
          <a:prstGeom prst="line">
            <a:avLst/>
          </a:prstGeom>
          <a:noFill/>
          <a:ln w="25400">
            <a:solidFill>
              <a:srgbClr val="2E7D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3657600"/>
            <a:ext cx="5120640" cy="2011680"/>
          </a:xfrm>
          <a:prstGeom prst="line">
            <a:avLst/>
          </a:prstGeom>
          <a:noFill/>
          <a:ln w="25400">
            <a:solidFill>
              <a:srgbClr val="2E7DD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45920" y="3374136"/>
            <a:ext cx="0" cy="566928"/>
          </a:xfrm>
          <a:prstGeom prst="line">
            <a:avLst/>
          </a:prstGeom>
          <a:noFill/>
          <a:ln w="38100">
            <a:solidFill>
              <a:srgbClr val="FA512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88720" y="2880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near 0.1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1645920"/>
            <a:ext cx="0" cy="4023360"/>
          </a:xfrm>
          <a:prstGeom prst="line">
            <a:avLst/>
          </a:prstGeom>
          <a:noFill/>
          <a:ln w="38100">
            <a:solidFill>
              <a:srgbClr val="FA512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0" y="5715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far 1000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108960" y="3337560"/>
            <a:ext cx="457200" cy="640080"/>
          </a:xfrm>
          <a:prstGeom prst="triangle">
            <a:avLst/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176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objeto em z = -1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20624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← olha para -z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737360" y="3474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60°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949440" y="1417320"/>
            <a:ext cx="4693615" cy="1143000"/>
          </a:xfrm>
          <a:prstGeom prst="roundRect">
            <a:avLst>
              <a:gd name="adj" fmla="val 9600"/>
            </a:avLst>
          </a:prstGeom>
          <a:solidFill>
            <a:srgbClr val="0F223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178040" y="1600200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Matrix.make_perspective(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angle_of_view=60, aspect_ratio=1,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near=0.1, far=1000)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2834640"/>
            <a:ext cx="46936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angle_of_view: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abertura vertical, em graus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aspect_ratio: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largura ÷ altura da janela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near / far: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faixa de profundidade visível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Objeto em z = 0 some: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está antes do near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Perspectiva x ortográfica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16002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Perspectiva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05740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make_perspective()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97280" y="2651760"/>
            <a:ext cx="713232" cy="1188720"/>
          </a:xfrm>
          <a:prstGeom prst="upArrow">
            <a:avLst/>
          </a:prstGeom>
          <a:solidFill>
            <a:schemeClr val="accent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 = -1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34640" y="3017520"/>
            <a:ext cx="493776" cy="822960"/>
          </a:xfrm>
          <a:prstGeom prst="upArrow">
            <a:avLst/>
          </a:prstGeom>
          <a:solidFill>
            <a:schemeClr val="accent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7744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 = -2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49140" y="3337560"/>
            <a:ext cx="301752" cy="502920"/>
          </a:xfrm>
          <a:prstGeom prst="upArrow">
            <a:avLst/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93192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 = -4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343400"/>
            <a:ext cx="4724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 tamanho diminui com a distância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Linhas paralelas convergem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Realista: jogos 3D, simulação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78728" y="141732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98768" y="16002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Ortográfica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598768" y="205740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make_orthographic()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010248" y="3017520"/>
            <a:ext cx="493776" cy="822960"/>
          </a:xfrm>
          <a:prstGeom prst="upArrow">
            <a:avLst/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53048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 = -1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564728" y="3017520"/>
            <a:ext cx="493776" cy="822960"/>
          </a:xfrm>
          <a:prstGeom prst="upArrow">
            <a:avLst/>
          </a:prstGeom>
          <a:solidFill>
            <a:schemeClr val="accent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107528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 = -2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119208" y="3017520"/>
            <a:ext cx="493776" cy="822960"/>
          </a:xfrm>
          <a:prstGeom prst="upArrow">
            <a:avLst/>
          </a:prstGeom>
          <a:solidFill>
            <a:schemeClr val="accent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662008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 = -4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598768" y="4343400"/>
            <a:ext cx="4724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 tamanho não depende da distância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Paralelas continuam paralelas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Técnico: CAD, jogos 2D, mapas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Pergunta rápida 3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Com projeção PERSPECTIVA, você segura X (afasta em -z). O que acontece com a seta?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Fica menor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390824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0" name="Shape 7"/>
          <p:cNvSpPr/>
          <p:nvPr/>
        </p:nvSpPr>
        <p:spPr>
          <a:xfrm>
            <a:off x="3665144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65144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65144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Mantém o tamanho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233008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4" name="Shape 11"/>
          <p:cNvSpPr/>
          <p:nvPr/>
        </p:nvSpPr>
        <p:spPr>
          <a:xfrm>
            <a:off x="6507328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07328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Some na hora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075191" y="274320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21486B"/>
          </a:solidFill>
          <a:ln/>
        </p:spPr>
      </p:sp>
      <p:sp>
        <p:nvSpPr>
          <p:cNvPr id="18" name="Shape 15"/>
          <p:cNvSpPr/>
          <p:nvPr/>
        </p:nvSpPr>
        <p:spPr>
          <a:xfrm>
            <a:off x="9349511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349511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349511" y="384048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Gira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ADCEB"/>
                </a:solidFill>
              </a:rPr>
              <a:t>Discuta com a dupla por 1 minuto antes de responder.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A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Hierarquia: o filho herda a matriz do pai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2377440" y="1463040"/>
            <a:ext cx="219456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2377440" y="15361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Mundo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origem (0, 0)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2194560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Sol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gira no lugar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06240" y="3017520"/>
            <a:ext cx="219456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0624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Órbita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3493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R(órbita) @ T(raio)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651760" y="4663440"/>
            <a:ext cx="219456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651760" y="4736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Planeta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2651760" y="5138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órbita @ R @ 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0" y="4663440"/>
            <a:ext cx="21945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0" y="4736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Lua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5138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órbita @ R @ T @ 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 flipH="1">
            <a:off x="1645920" y="2377440"/>
            <a:ext cx="1828800" cy="64008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74720" y="2377440"/>
            <a:ext cx="1828800" cy="64008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>
            <a:off x="3749040" y="3931920"/>
            <a:ext cx="1554480" cy="73152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03520" y="3931920"/>
            <a:ext cx="1280160" cy="731520"/>
          </a:xfrm>
          <a:prstGeom prst="line">
            <a:avLst/>
          </a:prstGeom>
          <a:noFill/>
          <a:ln w="25400">
            <a:solidFill>
              <a:srgbClr val="AAB7C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0" y="1463040"/>
            <a:ext cx="3413455" cy="4114800"/>
          </a:xfrm>
          <a:prstGeom prst="roundRect">
            <a:avLst>
              <a:gd name="adj" fmla="val 3215"/>
            </a:avLst>
          </a:prstGeom>
          <a:solidFill>
            <a:schemeClr val="bg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503920" y="1645920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Regra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8503920" y="2148840"/>
            <a:ext cx="2864815" cy="685800"/>
          </a:xfrm>
          <a:prstGeom prst="roundRect">
            <a:avLst>
              <a:gd name="adj" fmla="val 16000"/>
            </a:avLst>
          </a:prstGeom>
          <a:solidFill>
            <a:srgbClr val="0F223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732520" y="2331720"/>
            <a:ext cx="2407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filho = pai @ local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063240"/>
            <a:ext cx="28648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lua parte da matriz da órbita do planeta e então aplica a própria órbita local. Quando o planeta se move, a lua vai junto.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Erros comuns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9164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Tela preta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Objeto em z = 0 com perspectiva: translade para z = -1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38218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169164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1253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06898" y="169164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Objeto deformado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612538" y="23317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Uniform sem mat4 ou sem transpor (GL_TRUE)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27797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8402117" y="169164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02117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996477" y="169164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Órbita indesejada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402117" y="23317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Ordem trocada: R @ T em vez de T @ 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379476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06908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Escala muda a órbita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7091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 à esquerda de T: deixe a escala mais à direita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338218" y="379476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5" name="Shape 22"/>
          <p:cNvSpPr/>
          <p:nvPr/>
        </p:nvSpPr>
        <p:spPr>
          <a:xfrm>
            <a:off x="4612538" y="40690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1253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206898" y="406908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Depende do FPS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4612538" y="47091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Falta multiplicar por self.deltaTime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127797" y="379476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0" name="Shape 27"/>
          <p:cNvSpPr/>
          <p:nvPr/>
        </p:nvSpPr>
        <p:spPr>
          <a:xfrm>
            <a:off x="8402117" y="40690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402117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996477" y="406908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Nada acontece</a:t>
            </a:r>
            <a:endParaRPr lang="en-US" sz="1900" dirty="0"/>
          </a:p>
        </p:txBody>
      </p:sp>
      <p:sp>
        <p:nvSpPr>
          <p:cNvPr id="33" name="Text 30"/>
          <p:cNvSpPr txBox="1"/>
          <p:nvPr/>
        </p:nvSpPr>
        <p:spPr>
          <a:xfrm>
            <a:off x="8402117" y="47091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Nome do uniform diferente no shader (variableRef = -1)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Resumo da aula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2567864" cy="3474720"/>
          </a:xfrm>
          <a:prstGeom prst="roundRect">
            <a:avLst>
              <a:gd name="adj" fmla="val 4273"/>
            </a:avLst>
          </a:prstGeom>
          <a:solidFill>
            <a:srgbClr val="21486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201168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w = 1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w = 0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47472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Ponto sofre translação; vetor não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390824" y="1737360"/>
            <a:ext cx="2567864" cy="3474720"/>
          </a:xfrm>
          <a:prstGeom prst="roundRect">
            <a:avLst>
              <a:gd name="adj" fmla="val 4273"/>
            </a:avLst>
          </a:prstGeom>
          <a:solidFill>
            <a:srgbClr val="21486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619424" y="201168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Direita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primeiro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619424" y="347472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Em T @ R @ S, a escala age antes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33008" y="1737360"/>
            <a:ext cx="2567864" cy="3474720"/>
          </a:xfrm>
          <a:prstGeom prst="roundRect">
            <a:avLst>
              <a:gd name="adj" fmla="val 4273"/>
            </a:avLst>
          </a:prstGeom>
          <a:solidFill>
            <a:srgbClr val="2148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61608" y="201168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m @ M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M @ m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461608" y="347472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Global à esquerda; local à direita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075191" y="1737360"/>
            <a:ext cx="2567864" cy="3474720"/>
          </a:xfrm>
          <a:prstGeom prst="roundRect">
            <a:avLst>
              <a:gd name="adj" fmla="val 4273"/>
            </a:avLst>
          </a:prstGeom>
          <a:solidFill>
            <a:srgbClr val="21486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303791" y="201168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 · M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· posição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9303791" y="347472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 shader aplica modelo e projeção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A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Atividade em dupla: mini sistema solar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Arquivo: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atividade_sistema_solar.py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· altere só os TODO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874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Sol: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gira em torno do próprio centro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6517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Órbita: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planeta orbita o sol (raio 0.6)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Rotação própria: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planeta gira no próprio eixo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206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Lua: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orbita o planeta e o acompanha (raio 0.2)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4983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Teclado: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setas ↑ ↓ mudam a velocidade da órbita (≥ 0)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806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Use só make_translation, make_rotation_z e make_scale.</a:t>
            </a:r>
            <a:endParaRPr lang="en-US" sz="1400" dirty="0"/>
          </a:p>
        </p:txBody>
      </p:sp>
      <p:pic>
        <p:nvPicPr>
          <p:cNvPr id="21" name="Image 0" descr="/private/tmp/claude-501/-Users-rodrigosantos-PycharmProjects-pygame/4508a808-1871-47ba-8789-6261a524b220/scratchpad/shots/in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371600"/>
            <a:ext cx="2423160" cy="24231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537960" y="39044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Início</a:t>
            </a:r>
            <a:endParaRPr lang="en-US" sz="1300" dirty="0"/>
          </a:p>
        </p:txBody>
      </p:sp>
      <p:pic>
        <p:nvPicPr>
          <p:cNvPr id="23" name="Image 1" descr="/private/tmp/claude-501/-Users-rodrigosantos-PycharmProjects-pygame/4508a808-1871-47ba-8789-6261a524b220/scratchpad/shots/soluc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1371600"/>
            <a:ext cx="2423160" cy="24231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217152" y="39044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Esperado (animado)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537960" y="4343400"/>
            <a:ext cx="5102352" cy="1554480"/>
          </a:xfrm>
          <a:prstGeom prst="roundRect">
            <a:avLst>
              <a:gd name="adj" fmla="val 7059"/>
            </a:avLst>
          </a:prstGeom>
          <a:solidFill>
            <a:srgbClr val="FFE9E2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766560" y="43434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Dica: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leia da direita para a esquerda: escala → rotação própria → translação → rotação da órbita.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Entrega e critérios da atividade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Entregar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488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atividade_sistema_solar.py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alterado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Captura: tecla P salva capturas/resultado.png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Nomes dos dois integrantes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Um parágrafo: por que a órbita usa R @ T e a rotação própria fica à direita?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166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25 min · em dupla</a:t>
            </a:r>
            <a:endParaRPr lang="en-US" sz="2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417320"/>
          <a:ext cx="5608015" cy="914400"/>
        </p:xfrm>
        <a:graphic>
          <a:graphicData uri="http://schemas.openxmlformats.org/drawingml/2006/table">
            <a:tbl>
              <a:tblPr/>
              <a:tblGrid>
                <a:gridCol w="4510735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 girando no próprio centro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Planeta orbitando o sol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Rotação própria independente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Lua orbitando o planeta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Velocidade pelo teclado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Explicação da ordem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executável e entrega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00" marR="914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324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nsformacoes">
  <a:themeElements>
    <a:clrScheme name="Transformacoes">
      <a:dk1>
        <a:srgbClr val="17324D"/>
      </a:dk1>
      <a:lt1>
        <a:srgbClr val="FFFFFF"/>
      </a:lt1>
      <a:dk2>
        <a:srgbClr val="526273"/>
      </a:dk2>
      <a:lt2>
        <a:srgbClr val="F5F8FA"/>
      </a:lt2>
      <a:accent1>
        <a:srgbClr val="FA5128"/>
      </a:accent1>
      <a:accent2>
        <a:srgbClr val="2E7DD7"/>
      </a:accent2>
      <a:accent3>
        <a:srgbClr val="2FA36B"/>
      </a:accent3>
      <a:accent4>
        <a:srgbClr val="E0A800"/>
      </a:accent4>
      <a:accent5>
        <a:srgbClr val="7A5AF5"/>
      </a:accent5>
      <a:accent6>
        <a:srgbClr val="D64545"/>
      </a:accent6>
      <a:hlink>
        <a:srgbClr val="2E7DD7"/>
      </a:hlink>
      <a:folHlink>
        <a:srgbClr val="7A5AF5"/>
      </a:folHlink>
    </a:clrScheme>
    <a:fontScheme name="Transformacoe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Transformações Geométricas com Python e OpenGL</dc:title>
  <dc:subject>PptxGenJS Presentation</dc:subject>
  <dc:creator>Prof. Rodrigo Fernandes dos Santos</dc:creator>
  <cp:lastModifiedBy>Prof. Rodrigo Fernandes dos Santos</cp:lastModifiedBy>
  <cp:revision>1</cp:revision>
  <dcterms:created xsi:type="dcterms:W3CDTF">2026-10-07T18:20:00Z</dcterms:created>
  <dcterms:modified xsi:type="dcterms:W3CDTF">2026-10-07T18:20:00Z</dcterms:modified>
</cp:coreProperties>
</file>